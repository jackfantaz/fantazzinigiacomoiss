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1" r:id="rId2"/>
    <p:sldId id="271" r:id="rId3"/>
    <p:sldId id="266" r:id="rId4"/>
    <p:sldId id="270" r:id="rId5"/>
    <p:sldId id="269" r:id="rId6"/>
    <p:sldId id="275" r:id="rId7"/>
    <p:sldId id="276" r:id="rId8"/>
  </p:sldIdLst>
  <p:sldSz cx="12192000" cy="6858000"/>
  <p:notesSz cx="6858000" cy="9144000"/>
  <p:defaultTextStyle>
    <a:defPPr>
      <a:defRPr lang="it-I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 varScale="1">
        <p:scale>
          <a:sx n="89" d="100"/>
          <a:sy n="89" d="100"/>
        </p:scale>
        <p:origin x="466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it-IT"/>
              <a:t>Fare clic per modificare lo stile del titolo</a:t>
            </a:r>
          </a:p>
        </p:txBody>
      </p:sp>
      <p:sp>
        <p:nvSpPr>
          <p:cNvPr id="3" name="Sottotitolo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it-IT"/>
              <a:t>Fare clic per modificare lo stile del sottotitolo dello schema</a:t>
            </a:r>
          </a:p>
        </p:txBody>
      </p:sp>
      <p:sp>
        <p:nvSpPr>
          <p:cNvPr id="4" name="Segnaposto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4D5996-1787-4713-9AAF-D983FFC67929}" type="datetimeFigureOut">
              <a:rPr lang="it-IT" smtClean="0"/>
              <a:t>24/06/2021</a:t>
            </a:fld>
            <a:endParaRPr lang="it-IT"/>
          </a:p>
        </p:txBody>
      </p:sp>
      <p:sp>
        <p:nvSpPr>
          <p:cNvPr id="5" name="Segnaposto piè di pa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6873CD-1CAD-4CFF-A72D-DCAEA5B7BC04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8790701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</a:t>
            </a:r>
          </a:p>
        </p:txBody>
      </p:sp>
      <p:sp>
        <p:nvSpPr>
          <p:cNvPr id="3" name="Segnaposto contenut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it-IT"/>
              <a:t>Modifica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4D5996-1787-4713-9AAF-D983FFC67929}" type="datetimeFigureOut">
              <a:rPr lang="it-IT" smtClean="0"/>
              <a:t>24/06/2021</a:t>
            </a:fld>
            <a:endParaRPr lang="it-IT"/>
          </a:p>
        </p:txBody>
      </p:sp>
      <p:sp>
        <p:nvSpPr>
          <p:cNvPr id="5" name="Segnaposto piè di pa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6873CD-1CAD-4CFF-A72D-DCAEA5B7BC04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20367653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it-IT"/>
              <a:t>Fare clic per modificare lo stile del titolo</a:t>
            </a:r>
          </a:p>
        </p:txBody>
      </p:sp>
      <p:sp>
        <p:nvSpPr>
          <p:cNvPr id="3" name="Segnaposto testo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/>
              <a:t>Modifica gli stili del testo dello schema</a:t>
            </a:r>
          </a:p>
        </p:txBody>
      </p:sp>
      <p:sp>
        <p:nvSpPr>
          <p:cNvPr id="4" name="Segnaposto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4D5996-1787-4713-9AAF-D983FFC67929}" type="datetimeFigureOut">
              <a:rPr lang="it-IT" smtClean="0"/>
              <a:t>24/06/2021</a:t>
            </a:fld>
            <a:endParaRPr lang="it-IT"/>
          </a:p>
        </p:txBody>
      </p:sp>
      <p:sp>
        <p:nvSpPr>
          <p:cNvPr id="5" name="Segnaposto piè di pa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6873CD-1CAD-4CFF-A72D-DCAEA5B7BC04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63990827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</a:t>
            </a:r>
          </a:p>
        </p:txBody>
      </p:sp>
      <p:sp>
        <p:nvSpPr>
          <p:cNvPr id="3" name="Segnaposto contenuto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Modifica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contenuto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Modifica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4D5996-1787-4713-9AAF-D983FFC67929}" type="datetimeFigureOut">
              <a:rPr lang="it-IT" smtClean="0"/>
              <a:t>24/06/2021</a:t>
            </a:fld>
            <a:endParaRPr lang="it-IT"/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6873CD-1CAD-4CFF-A72D-DCAEA5B7BC04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38177154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it-IT"/>
              <a:t>Fare clic per modificare lo stile del titolo</a:t>
            </a:r>
          </a:p>
        </p:txBody>
      </p:sp>
      <p:sp>
        <p:nvSpPr>
          <p:cNvPr id="3" name="Segnaposto testo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Modifica gli stili del testo dello schema</a:t>
            </a:r>
          </a:p>
        </p:txBody>
      </p:sp>
      <p:sp>
        <p:nvSpPr>
          <p:cNvPr id="4" name="Segnaposto contenuto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it-IT"/>
              <a:t>Modifica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testo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Modifica gli stili del testo dello schema</a:t>
            </a:r>
          </a:p>
        </p:txBody>
      </p:sp>
      <p:sp>
        <p:nvSpPr>
          <p:cNvPr id="6" name="Segnaposto contenuto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it-IT"/>
              <a:t>Modifica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7" name="Segnaposto data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4D5996-1787-4713-9AAF-D983FFC67929}" type="datetimeFigureOut">
              <a:rPr lang="it-IT" smtClean="0"/>
              <a:t>24/06/2021</a:t>
            </a:fld>
            <a:endParaRPr lang="it-IT"/>
          </a:p>
        </p:txBody>
      </p:sp>
      <p:sp>
        <p:nvSpPr>
          <p:cNvPr id="8" name="Segnaposto piè di pagina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9" name="Segnaposto numero diapositiva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6873CD-1CAD-4CFF-A72D-DCAEA5B7BC04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26840536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</a:t>
            </a:r>
          </a:p>
        </p:txBody>
      </p:sp>
      <p:sp>
        <p:nvSpPr>
          <p:cNvPr id="3" name="Segnaposto data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4D5996-1787-4713-9AAF-D983FFC67929}" type="datetimeFigureOut">
              <a:rPr lang="it-IT" smtClean="0"/>
              <a:t>24/06/2021</a:t>
            </a:fld>
            <a:endParaRPr lang="it-IT"/>
          </a:p>
        </p:txBody>
      </p:sp>
      <p:sp>
        <p:nvSpPr>
          <p:cNvPr id="4" name="Segnaposto piè di pagina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5" name="Segnaposto numero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6873CD-1CAD-4CFF-A72D-DCAEA5B7BC04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87060619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data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4D5996-1787-4713-9AAF-D983FFC67929}" type="datetimeFigureOut">
              <a:rPr lang="it-IT" smtClean="0"/>
              <a:t>24/06/2021</a:t>
            </a:fld>
            <a:endParaRPr lang="it-IT"/>
          </a:p>
        </p:txBody>
      </p:sp>
      <p:sp>
        <p:nvSpPr>
          <p:cNvPr id="3" name="Segnaposto piè di pagina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6873CD-1CAD-4CFF-A72D-DCAEA5B7BC04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1279197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</a:t>
            </a:r>
          </a:p>
        </p:txBody>
      </p:sp>
      <p:sp>
        <p:nvSpPr>
          <p:cNvPr id="3" name="Segnaposto contenuto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it-IT"/>
              <a:t>Modifica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tes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Modifica gli stili del testo dello schema</a:t>
            </a:r>
          </a:p>
        </p:txBody>
      </p:sp>
      <p:sp>
        <p:nvSpPr>
          <p:cNvPr id="5" name="Segnaposto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4D5996-1787-4713-9AAF-D983FFC67929}" type="datetimeFigureOut">
              <a:rPr lang="it-IT" smtClean="0"/>
              <a:t>24/06/2021</a:t>
            </a:fld>
            <a:endParaRPr lang="it-IT"/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6873CD-1CAD-4CFF-A72D-DCAEA5B7BC04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3217159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</a:t>
            </a:r>
          </a:p>
        </p:txBody>
      </p:sp>
      <p:sp>
        <p:nvSpPr>
          <p:cNvPr id="3" name="Segnaposto immagine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it-IT"/>
          </a:p>
        </p:txBody>
      </p:sp>
      <p:sp>
        <p:nvSpPr>
          <p:cNvPr id="4" name="Segnaposto tes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Modifica gli stili del testo dello schema</a:t>
            </a:r>
          </a:p>
        </p:txBody>
      </p:sp>
      <p:sp>
        <p:nvSpPr>
          <p:cNvPr id="5" name="Segnaposto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4D5996-1787-4713-9AAF-D983FFC67929}" type="datetimeFigureOut">
              <a:rPr lang="it-IT" smtClean="0"/>
              <a:t>24/06/2021</a:t>
            </a:fld>
            <a:endParaRPr lang="it-IT"/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6873CD-1CAD-4CFF-A72D-DCAEA5B7BC04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8160608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</a:t>
            </a:r>
          </a:p>
        </p:txBody>
      </p:sp>
      <p:sp>
        <p:nvSpPr>
          <p:cNvPr id="3" name="Segnaposto testo verticale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it-IT"/>
              <a:t>Modifica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4D5996-1787-4713-9AAF-D983FFC67929}" type="datetimeFigureOut">
              <a:rPr lang="it-IT" smtClean="0"/>
              <a:t>24/06/2021</a:t>
            </a:fld>
            <a:endParaRPr lang="it-IT"/>
          </a:p>
        </p:txBody>
      </p:sp>
      <p:sp>
        <p:nvSpPr>
          <p:cNvPr id="5" name="Segnaposto piè di pa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6873CD-1CAD-4CFF-A72D-DCAEA5B7BC04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13039094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vertica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it-IT"/>
              <a:t>Fare clic per modificare lo stile del titolo</a:t>
            </a:r>
          </a:p>
        </p:txBody>
      </p:sp>
      <p:sp>
        <p:nvSpPr>
          <p:cNvPr id="3" name="Segnaposto testo verticale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it-IT"/>
              <a:t>Modifica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4D5996-1787-4713-9AAF-D983FFC67929}" type="datetimeFigureOut">
              <a:rPr lang="it-IT" smtClean="0"/>
              <a:t>24/06/2021</a:t>
            </a:fld>
            <a:endParaRPr lang="it-IT"/>
          </a:p>
        </p:txBody>
      </p:sp>
      <p:sp>
        <p:nvSpPr>
          <p:cNvPr id="5" name="Segnaposto piè di pa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6873CD-1CAD-4CFF-A72D-DCAEA5B7BC04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9010299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itolo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it-IT"/>
              <a:t>Fare clic per modificare lo stile del titolo</a:t>
            </a:r>
          </a:p>
        </p:txBody>
      </p:sp>
      <p:sp>
        <p:nvSpPr>
          <p:cNvPr id="3" name="Segnaposto testo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/>
              <a:t>Modifica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54D5996-1787-4713-9AAF-D983FFC67929}" type="datetimeFigureOut">
              <a:rPr lang="it-IT" smtClean="0"/>
              <a:t>24/06/2021</a:t>
            </a:fld>
            <a:endParaRPr lang="it-IT"/>
          </a:p>
        </p:txBody>
      </p:sp>
      <p:sp>
        <p:nvSpPr>
          <p:cNvPr id="5" name="Segnaposto piè di pagina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it-IT"/>
          </a:p>
        </p:txBody>
      </p:sp>
      <p:sp>
        <p:nvSpPr>
          <p:cNvPr id="6" name="Segnaposto numero diapositiva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26873CD-1CAD-4CFF-A72D-DCAEA5B7BC04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7840829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ttangolo arrotondato 6"/>
          <p:cNvSpPr/>
          <p:nvPr/>
        </p:nvSpPr>
        <p:spPr>
          <a:xfrm>
            <a:off x="5048046" y="4640593"/>
            <a:ext cx="3653990" cy="47158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Presence Sensor</a:t>
            </a:r>
          </a:p>
          <a:p>
            <a:pPr algn="ctr"/>
            <a:r>
              <a:rPr lang="it-IT" sz="1400" i="1" dirty="0">
                <a:solidFill>
                  <a:schemeClr val="tx1"/>
                </a:solidFill>
                <a:latin typeface="Century Schoolbook" panose="02040604050505020304" pitchFamily="18" charset="0"/>
              </a:rPr>
              <a:t>interface</a:t>
            </a:r>
          </a:p>
        </p:txBody>
      </p:sp>
      <p:sp>
        <p:nvSpPr>
          <p:cNvPr id="22" name="Rettangolo arrotondato 21"/>
          <p:cNvSpPr/>
          <p:nvPr/>
        </p:nvSpPr>
        <p:spPr>
          <a:xfrm>
            <a:off x="5048046" y="4160387"/>
            <a:ext cx="1616791" cy="47158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Presence Sonar</a:t>
            </a:r>
          </a:p>
        </p:txBody>
      </p:sp>
      <p:sp>
        <p:nvSpPr>
          <p:cNvPr id="23" name="Rettangolo arrotondato 22"/>
          <p:cNvSpPr/>
          <p:nvPr/>
        </p:nvSpPr>
        <p:spPr>
          <a:xfrm>
            <a:off x="7085245" y="4163371"/>
            <a:ext cx="1616791" cy="47158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Presence Weight</a:t>
            </a:r>
          </a:p>
        </p:txBody>
      </p:sp>
      <p:cxnSp>
        <p:nvCxnSpPr>
          <p:cNvPr id="26" name="Connettore 2 25"/>
          <p:cNvCxnSpPr/>
          <p:nvPr/>
        </p:nvCxnSpPr>
        <p:spPr>
          <a:xfrm flipH="1" flipV="1">
            <a:off x="5850993" y="3700018"/>
            <a:ext cx="5448" cy="460369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Connettore 2 51"/>
          <p:cNvCxnSpPr/>
          <p:nvPr/>
        </p:nvCxnSpPr>
        <p:spPr>
          <a:xfrm flipH="1" flipV="1">
            <a:off x="7888192" y="3700018"/>
            <a:ext cx="5448" cy="460369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Rettangolo arrotondato 52"/>
          <p:cNvSpPr/>
          <p:nvPr/>
        </p:nvSpPr>
        <p:spPr>
          <a:xfrm>
            <a:off x="3169947" y="3216867"/>
            <a:ext cx="3494890" cy="47158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Sonar</a:t>
            </a:r>
          </a:p>
          <a:p>
            <a:pPr algn="ctr"/>
            <a:r>
              <a:rPr lang="it-IT" sz="1400" i="1" dirty="0">
                <a:solidFill>
                  <a:schemeClr val="tx1"/>
                </a:solidFill>
                <a:latin typeface="Century Schoolbook" panose="02040604050505020304" pitchFamily="18" charset="0"/>
              </a:rPr>
              <a:t>interface</a:t>
            </a:r>
          </a:p>
        </p:txBody>
      </p:sp>
      <p:sp>
        <p:nvSpPr>
          <p:cNvPr id="54" name="Rettangolo arrotondato 53"/>
          <p:cNvSpPr/>
          <p:nvPr/>
        </p:nvSpPr>
        <p:spPr>
          <a:xfrm>
            <a:off x="7097753" y="3211550"/>
            <a:ext cx="1924301" cy="47158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Weight Sensor</a:t>
            </a:r>
          </a:p>
          <a:p>
            <a:pPr algn="ctr"/>
            <a:r>
              <a:rPr lang="it-IT" sz="1400" i="1" dirty="0">
                <a:solidFill>
                  <a:schemeClr val="tx1"/>
                </a:solidFill>
                <a:latin typeface="Century Schoolbook" panose="02040604050505020304" pitchFamily="18" charset="0"/>
              </a:rPr>
              <a:t>interface</a:t>
            </a:r>
          </a:p>
        </p:txBody>
      </p:sp>
      <p:sp>
        <p:nvSpPr>
          <p:cNvPr id="55" name="Rettangolo arrotondato 54"/>
          <p:cNvSpPr/>
          <p:nvPr/>
        </p:nvSpPr>
        <p:spPr>
          <a:xfrm>
            <a:off x="3169947" y="2736661"/>
            <a:ext cx="1575031" cy="47158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Mock Sonar</a:t>
            </a:r>
          </a:p>
        </p:txBody>
      </p:sp>
      <p:sp>
        <p:nvSpPr>
          <p:cNvPr id="56" name="Rettangolo arrotondato 55"/>
          <p:cNvSpPr/>
          <p:nvPr/>
        </p:nvSpPr>
        <p:spPr>
          <a:xfrm>
            <a:off x="5089806" y="2736661"/>
            <a:ext cx="1575031" cy="47158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Sonar Driver</a:t>
            </a:r>
          </a:p>
        </p:txBody>
      </p:sp>
      <p:sp>
        <p:nvSpPr>
          <p:cNvPr id="57" name="Rettangolo arrotondato 56"/>
          <p:cNvSpPr/>
          <p:nvPr/>
        </p:nvSpPr>
        <p:spPr>
          <a:xfrm>
            <a:off x="7097753" y="2731912"/>
            <a:ext cx="1924301" cy="47158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Mock Weight Sensor</a:t>
            </a:r>
          </a:p>
        </p:txBody>
      </p:sp>
      <p:sp>
        <p:nvSpPr>
          <p:cNvPr id="58" name="Rettangolo 57"/>
          <p:cNvSpPr/>
          <p:nvPr/>
        </p:nvSpPr>
        <p:spPr>
          <a:xfrm>
            <a:off x="5396638" y="2090643"/>
            <a:ext cx="892349" cy="47158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sz="1400" dirty="0">
              <a:solidFill>
                <a:schemeClr val="tx1"/>
              </a:solidFill>
              <a:latin typeface="Century Schoolbook" panose="02040604050505020304" pitchFamily="18" charset="0"/>
            </a:endParaRPr>
          </a:p>
        </p:txBody>
      </p:sp>
      <p:sp>
        <p:nvSpPr>
          <p:cNvPr id="59" name="Ovale 58"/>
          <p:cNvSpPr/>
          <p:nvPr/>
        </p:nvSpPr>
        <p:spPr>
          <a:xfrm>
            <a:off x="5450835" y="2133671"/>
            <a:ext cx="370937" cy="385524"/>
          </a:xfrm>
          <a:prstGeom prst="ellipse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sz="1400" dirty="0">
              <a:solidFill>
                <a:schemeClr val="tx1"/>
              </a:solidFill>
              <a:latin typeface="Century Schoolbook" panose="02040604050505020304" pitchFamily="18" charset="0"/>
            </a:endParaRPr>
          </a:p>
        </p:txBody>
      </p:sp>
      <p:sp>
        <p:nvSpPr>
          <p:cNvPr id="60" name="Ovale 59"/>
          <p:cNvSpPr/>
          <p:nvPr/>
        </p:nvSpPr>
        <p:spPr>
          <a:xfrm>
            <a:off x="5875969" y="2133671"/>
            <a:ext cx="370937" cy="385524"/>
          </a:xfrm>
          <a:prstGeom prst="ellipse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sz="1400" dirty="0">
              <a:solidFill>
                <a:schemeClr val="tx1"/>
              </a:solidFill>
              <a:latin typeface="Century Schoolbook" panose="02040604050505020304" pitchFamily="18" charset="0"/>
            </a:endParaRPr>
          </a:p>
        </p:txBody>
      </p:sp>
      <p:sp>
        <p:nvSpPr>
          <p:cNvPr id="61" name="Rettangolo 60"/>
          <p:cNvSpPr/>
          <p:nvPr/>
        </p:nvSpPr>
        <p:spPr>
          <a:xfrm>
            <a:off x="3511287" y="1791504"/>
            <a:ext cx="892349" cy="770719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sz="1400" dirty="0">
              <a:solidFill>
                <a:schemeClr val="tx1"/>
              </a:solidFill>
              <a:latin typeface="Century Schoolbook" panose="02040604050505020304" pitchFamily="18" charset="0"/>
            </a:endParaRPr>
          </a:p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GUI</a:t>
            </a:r>
          </a:p>
        </p:txBody>
      </p:sp>
      <p:sp>
        <p:nvSpPr>
          <p:cNvPr id="62" name="Rettangolo 61"/>
          <p:cNvSpPr/>
          <p:nvPr/>
        </p:nvSpPr>
        <p:spPr>
          <a:xfrm>
            <a:off x="3511286" y="1791504"/>
            <a:ext cx="892349" cy="23628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sz="1400" dirty="0">
              <a:solidFill>
                <a:schemeClr val="tx1"/>
              </a:solidFill>
              <a:latin typeface="Century Schoolbook" panose="02040604050505020304" pitchFamily="18" charset="0"/>
            </a:endParaRPr>
          </a:p>
        </p:txBody>
      </p:sp>
      <p:sp>
        <p:nvSpPr>
          <p:cNvPr id="63" name="Rettangolo 62"/>
          <p:cNvSpPr/>
          <p:nvPr/>
        </p:nvSpPr>
        <p:spPr>
          <a:xfrm>
            <a:off x="4258578" y="1854661"/>
            <a:ext cx="96705" cy="109973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sz="1400" dirty="0">
              <a:solidFill>
                <a:schemeClr val="tx1"/>
              </a:solidFill>
              <a:latin typeface="Century Schoolbook" panose="02040604050505020304" pitchFamily="18" charset="0"/>
            </a:endParaRPr>
          </a:p>
        </p:txBody>
      </p:sp>
      <p:sp>
        <p:nvSpPr>
          <p:cNvPr id="64" name="Rettangolo 63"/>
          <p:cNvSpPr/>
          <p:nvPr/>
        </p:nvSpPr>
        <p:spPr>
          <a:xfrm>
            <a:off x="7668982" y="1782878"/>
            <a:ext cx="892349" cy="770719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sz="1400" dirty="0">
              <a:solidFill>
                <a:schemeClr val="tx1"/>
              </a:solidFill>
              <a:latin typeface="Century Schoolbook" panose="02040604050505020304" pitchFamily="18" charset="0"/>
            </a:endParaRPr>
          </a:p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GUI</a:t>
            </a:r>
          </a:p>
        </p:txBody>
      </p:sp>
      <p:sp>
        <p:nvSpPr>
          <p:cNvPr id="65" name="Rettangolo 64"/>
          <p:cNvSpPr/>
          <p:nvPr/>
        </p:nvSpPr>
        <p:spPr>
          <a:xfrm>
            <a:off x="7668981" y="1782878"/>
            <a:ext cx="892349" cy="23628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sz="1400" dirty="0">
              <a:solidFill>
                <a:schemeClr val="tx1"/>
              </a:solidFill>
              <a:latin typeface="Century Schoolbook" panose="02040604050505020304" pitchFamily="18" charset="0"/>
            </a:endParaRPr>
          </a:p>
        </p:txBody>
      </p:sp>
      <p:sp>
        <p:nvSpPr>
          <p:cNvPr id="66" name="Rettangolo 65"/>
          <p:cNvSpPr/>
          <p:nvPr/>
        </p:nvSpPr>
        <p:spPr>
          <a:xfrm>
            <a:off x="8416273" y="1846035"/>
            <a:ext cx="96705" cy="109973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sz="1400" dirty="0">
              <a:solidFill>
                <a:schemeClr val="tx1"/>
              </a:solidFill>
              <a:latin typeface="Century Schoolbook" panose="02040604050505020304" pitchFamily="18" charset="0"/>
            </a:endParaRPr>
          </a:p>
        </p:txBody>
      </p:sp>
      <p:sp>
        <p:nvSpPr>
          <p:cNvPr id="67" name="CasellaDiTesto 66"/>
          <p:cNvSpPr txBox="1"/>
          <p:nvPr/>
        </p:nvSpPr>
        <p:spPr>
          <a:xfrm>
            <a:off x="5212671" y="1745828"/>
            <a:ext cx="126028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600" dirty="0">
                <a:latin typeface="Century Schoolbook" panose="02040604050505020304" pitchFamily="18" charset="0"/>
              </a:rPr>
              <a:t>Real device</a:t>
            </a:r>
          </a:p>
        </p:txBody>
      </p:sp>
    </p:spTree>
    <p:extLst>
      <p:ext uri="{BB962C8B-B14F-4D97-AF65-F5344CB8AC3E}">
        <p14:creationId xmlns:p14="http://schemas.microsoft.com/office/powerpoint/2010/main" val="92123823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e 3"/>
          <p:cNvSpPr/>
          <p:nvPr/>
        </p:nvSpPr>
        <p:spPr>
          <a:xfrm>
            <a:off x="3737252" y="4002284"/>
            <a:ext cx="1857403" cy="1401520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Thermometer</a:t>
            </a:r>
          </a:p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Actor</a:t>
            </a:r>
          </a:p>
        </p:txBody>
      </p:sp>
      <p:sp>
        <p:nvSpPr>
          <p:cNvPr id="5" name="Triangolo isoscele 4"/>
          <p:cNvSpPr/>
          <p:nvPr/>
        </p:nvSpPr>
        <p:spPr>
          <a:xfrm rot="16200000">
            <a:off x="4450884" y="3816879"/>
            <a:ext cx="430138" cy="370809"/>
          </a:xfrm>
          <a:prstGeom prst="triangle">
            <a:avLst/>
          </a:prstGeom>
          <a:solidFill>
            <a:srgbClr val="FF0000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6" name="Rettangolo 5"/>
          <p:cNvSpPr/>
          <p:nvPr/>
        </p:nvSpPr>
        <p:spPr>
          <a:xfrm>
            <a:off x="3301618" y="4583535"/>
            <a:ext cx="714644" cy="33952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cxnSp>
        <p:nvCxnSpPr>
          <p:cNvPr id="11" name="Connettore 2 10"/>
          <p:cNvCxnSpPr>
            <a:stCxn id="5" idx="5"/>
          </p:cNvCxnSpPr>
          <p:nvPr/>
        </p:nvCxnSpPr>
        <p:spPr>
          <a:xfrm flipH="1" flipV="1">
            <a:off x="4663797" y="3352877"/>
            <a:ext cx="2157" cy="541872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ettangolo arrotondato 13"/>
          <p:cNvSpPr/>
          <p:nvPr/>
        </p:nvSpPr>
        <p:spPr>
          <a:xfrm>
            <a:off x="3737252" y="2881297"/>
            <a:ext cx="1853089" cy="47158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Mock Thermometer</a:t>
            </a:r>
          </a:p>
        </p:txBody>
      </p:sp>
      <p:sp>
        <p:nvSpPr>
          <p:cNvPr id="17" name="Ovale 16"/>
          <p:cNvSpPr/>
          <p:nvPr/>
        </p:nvSpPr>
        <p:spPr>
          <a:xfrm>
            <a:off x="6769271" y="4002284"/>
            <a:ext cx="1857403" cy="1401520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Fan</a:t>
            </a:r>
          </a:p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Actor</a:t>
            </a:r>
          </a:p>
        </p:txBody>
      </p:sp>
      <p:sp>
        <p:nvSpPr>
          <p:cNvPr id="18" name="Triangolo isoscele 17"/>
          <p:cNvSpPr/>
          <p:nvPr/>
        </p:nvSpPr>
        <p:spPr>
          <a:xfrm rot="16200000">
            <a:off x="7482903" y="3816879"/>
            <a:ext cx="430138" cy="370809"/>
          </a:xfrm>
          <a:prstGeom prst="triangle">
            <a:avLst/>
          </a:prstGeom>
          <a:solidFill>
            <a:srgbClr val="FF0000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9" name="Rettangolo 18"/>
          <p:cNvSpPr/>
          <p:nvPr/>
        </p:nvSpPr>
        <p:spPr>
          <a:xfrm>
            <a:off x="6333637" y="4583535"/>
            <a:ext cx="714644" cy="33952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cxnSp>
        <p:nvCxnSpPr>
          <p:cNvPr id="21" name="Connettore 2 20"/>
          <p:cNvCxnSpPr>
            <a:stCxn id="18" idx="5"/>
            <a:endCxn id="20" idx="2"/>
          </p:cNvCxnSpPr>
          <p:nvPr/>
        </p:nvCxnSpPr>
        <p:spPr>
          <a:xfrm flipH="1" flipV="1">
            <a:off x="7695816" y="3352877"/>
            <a:ext cx="2157" cy="541872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Rettangolo arrotondato 22"/>
          <p:cNvSpPr/>
          <p:nvPr/>
        </p:nvSpPr>
        <p:spPr>
          <a:xfrm>
            <a:off x="6769271" y="2881297"/>
            <a:ext cx="1853089" cy="47158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Mock Fan</a:t>
            </a:r>
          </a:p>
        </p:txBody>
      </p:sp>
      <p:sp>
        <p:nvSpPr>
          <p:cNvPr id="24" name="Rettangolo 23"/>
          <p:cNvSpPr/>
          <p:nvPr/>
        </p:nvSpPr>
        <p:spPr>
          <a:xfrm>
            <a:off x="4217623" y="1934945"/>
            <a:ext cx="892349" cy="770719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sz="1400" dirty="0">
              <a:solidFill>
                <a:schemeClr val="tx1"/>
              </a:solidFill>
              <a:latin typeface="Century Schoolbook" panose="02040604050505020304" pitchFamily="18" charset="0"/>
            </a:endParaRPr>
          </a:p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GUI</a:t>
            </a:r>
          </a:p>
        </p:txBody>
      </p:sp>
      <p:sp>
        <p:nvSpPr>
          <p:cNvPr id="25" name="Rettangolo 24"/>
          <p:cNvSpPr/>
          <p:nvPr/>
        </p:nvSpPr>
        <p:spPr>
          <a:xfrm>
            <a:off x="4217622" y="1934945"/>
            <a:ext cx="892349" cy="23628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sz="1400" dirty="0">
              <a:solidFill>
                <a:schemeClr val="tx1"/>
              </a:solidFill>
              <a:latin typeface="Century Schoolbook" panose="02040604050505020304" pitchFamily="18" charset="0"/>
            </a:endParaRPr>
          </a:p>
        </p:txBody>
      </p:sp>
      <p:sp>
        <p:nvSpPr>
          <p:cNvPr id="26" name="Rettangolo 25"/>
          <p:cNvSpPr/>
          <p:nvPr/>
        </p:nvSpPr>
        <p:spPr>
          <a:xfrm>
            <a:off x="4964914" y="1998102"/>
            <a:ext cx="96705" cy="109973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sz="1400" dirty="0">
              <a:solidFill>
                <a:schemeClr val="tx1"/>
              </a:solidFill>
              <a:latin typeface="Century Schoolbook" panose="02040604050505020304" pitchFamily="18" charset="0"/>
            </a:endParaRPr>
          </a:p>
        </p:txBody>
      </p:sp>
      <p:sp>
        <p:nvSpPr>
          <p:cNvPr id="27" name="Rettangolo 26"/>
          <p:cNvSpPr/>
          <p:nvPr/>
        </p:nvSpPr>
        <p:spPr>
          <a:xfrm>
            <a:off x="7182234" y="1934945"/>
            <a:ext cx="892349" cy="770719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sz="1400" dirty="0">
              <a:solidFill>
                <a:schemeClr val="tx1"/>
              </a:solidFill>
              <a:latin typeface="Century Schoolbook" panose="02040604050505020304" pitchFamily="18" charset="0"/>
            </a:endParaRPr>
          </a:p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GUI</a:t>
            </a:r>
          </a:p>
        </p:txBody>
      </p:sp>
      <p:sp>
        <p:nvSpPr>
          <p:cNvPr id="28" name="Rettangolo 27"/>
          <p:cNvSpPr/>
          <p:nvPr/>
        </p:nvSpPr>
        <p:spPr>
          <a:xfrm>
            <a:off x="7182233" y="1934945"/>
            <a:ext cx="892349" cy="23628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sz="1400" dirty="0">
              <a:solidFill>
                <a:schemeClr val="tx1"/>
              </a:solidFill>
              <a:latin typeface="Century Schoolbook" panose="02040604050505020304" pitchFamily="18" charset="0"/>
            </a:endParaRPr>
          </a:p>
        </p:txBody>
      </p:sp>
      <p:sp>
        <p:nvSpPr>
          <p:cNvPr id="29" name="Rettangolo 28"/>
          <p:cNvSpPr/>
          <p:nvPr/>
        </p:nvSpPr>
        <p:spPr>
          <a:xfrm>
            <a:off x="7929525" y="1998102"/>
            <a:ext cx="96705" cy="109973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sz="1400" dirty="0">
              <a:solidFill>
                <a:schemeClr val="tx1"/>
              </a:solidFill>
              <a:latin typeface="Century Schoolbook" panose="020406040505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1757075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e 3"/>
          <p:cNvSpPr/>
          <p:nvPr/>
        </p:nvSpPr>
        <p:spPr>
          <a:xfrm>
            <a:off x="6680131" y="3436921"/>
            <a:ext cx="1302611" cy="982897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Weight</a:t>
            </a:r>
          </a:p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Actor</a:t>
            </a:r>
          </a:p>
        </p:txBody>
      </p:sp>
      <p:sp>
        <p:nvSpPr>
          <p:cNvPr id="5" name="Triangolo isoscele 4"/>
          <p:cNvSpPr/>
          <p:nvPr/>
        </p:nvSpPr>
        <p:spPr>
          <a:xfrm rot="16200000">
            <a:off x="7180606" y="3315521"/>
            <a:ext cx="301659" cy="260051"/>
          </a:xfrm>
          <a:prstGeom prst="triangle">
            <a:avLst/>
          </a:prstGeom>
          <a:solidFill>
            <a:srgbClr val="FF0000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6" name="Rettangolo 5"/>
          <p:cNvSpPr/>
          <p:nvPr/>
        </p:nvSpPr>
        <p:spPr>
          <a:xfrm>
            <a:off x="6356640" y="3811139"/>
            <a:ext cx="501185" cy="238108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cxnSp>
        <p:nvCxnSpPr>
          <p:cNvPr id="8" name="Connettore 2 7"/>
          <p:cNvCxnSpPr>
            <a:stCxn id="5" idx="5"/>
          </p:cNvCxnSpPr>
          <p:nvPr/>
        </p:nvCxnSpPr>
        <p:spPr>
          <a:xfrm flipH="1" flipV="1">
            <a:off x="7325988" y="2909763"/>
            <a:ext cx="5448" cy="460369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ttangolo arrotondato 9"/>
          <p:cNvSpPr/>
          <p:nvPr/>
        </p:nvSpPr>
        <p:spPr>
          <a:xfrm>
            <a:off x="6517592" y="2438183"/>
            <a:ext cx="1616791" cy="47158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Presence Weight</a:t>
            </a:r>
          </a:p>
        </p:txBody>
      </p:sp>
      <p:sp>
        <p:nvSpPr>
          <p:cNvPr id="11" name="Ovale 10"/>
          <p:cNvSpPr/>
          <p:nvPr/>
        </p:nvSpPr>
        <p:spPr>
          <a:xfrm>
            <a:off x="4381109" y="3436921"/>
            <a:ext cx="1302611" cy="982897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Sonar</a:t>
            </a:r>
          </a:p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Actor</a:t>
            </a:r>
          </a:p>
        </p:txBody>
      </p:sp>
      <p:sp>
        <p:nvSpPr>
          <p:cNvPr id="12" name="Triangolo isoscele 11"/>
          <p:cNvSpPr/>
          <p:nvPr/>
        </p:nvSpPr>
        <p:spPr>
          <a:xfrm rot="16200000">
            <a:off x="4881584" y="3315521"/>
            <a:ext cx="301659" cy="260051"/>
          </a:xfrm>
          <a:prstGeom prst="triangle">
            <a:avLst/>
          </a:prstGeom>
          <a:solidFill>
            <a:srgbClr val="FF0000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3" name="Rettangolo 12"/>
          <p:cNvSpPr/>
          <p:nvPr/>
        </p:nvSpPr>
        <p:spPr>
          <a:xfrm>
            <a:off x="4057618" y="3811139"/>
            <a:ext cx="501185" cy="238108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cxnSp>
        <p:nvCxnSpPr>
          <p:cNvPr id="15" name="Connettore 2 14"/>
          <p:cNvCxnSpPr>
            <a:stCxn id="12" idx="5"/>
          </p:cNvCxnSpPr>
          <p:nvPr/>
        </p:nvCxnSpPr>
        <p:spPr>
          <a:xfrm flipH="1" flipV="1">
            <a:off x="5026966" y="2909763"/>
            <a:ext cx="5448" cy="460369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ttangolo arrotondato 15"/>
          <p:cNvSpPr/>
          <p:nvPr/>
        </p:nvSpPr>
        <p:spPr>
          <a:xfrm>
            <a:off x="4218570" y="2438183"/>
            <a:ext cx="1616791" cy="47158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Presence Sonar</a:t>
            </a:r>
          </a:p>
        </p:txBody>
      </p:sp>
    </p:spTree>
    <p:extLst>
      <p:ext uri="{BB962C8B-B14F-4D97-AF65-F5344CB8AC3E}">
        <p14:creationId xmlns:p14="http://schemas.microsoft.com/office/powerpoint/2010/main" val="72129029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Ovale 80"/>
          <p:cNvSpPr/>
          <p:nvPr/>
        </p:nvSpPr>
        <p:spPr>
          <a:xfrm>
            <a:off x="2223628" y="4242720"/>
            <a:ext cx="1302611" cy="982897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 smtClean="0">
                <a:solidFill>
                  <a:schemeClr val="tx1"/>
                </a:solidFill>
                <a:latin typeface="Century Schoolbook" panose="02040604050505020304" pitchFamily="18" charset="0"/>
              </a:rPr>
              <a:t>Trolley</a:t>
            </a:r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 </a:t>
            </a:r>
            <a:r>
              <a:rPr lang="it-IT" sz="1400" dirty="0" smtClean="0">
                <a:solidFill>
                  <a:schemeClr val="tx1"/>
                </a:solidFill>
                <a:latin typeface="Century Schoolbook" panose="02040604050505020304" pitchFamily="18" charset="0"/>
              </a:rPr>
              <a:t>Actor</a:t>
            </a:r>
            <a:endParaRPr lang="it-IT" sz="1400" dirty="0" smtClean="0">
              <a:solidFill>
                <a:schemeClr val="tx1"/>
              </a:solidFill>
              <a:latin typeface="Century Schoolbook" panose="02040604050505020304" pitchFamily="18" charset="0"/>
            </a:endParaRPr>
          </a:p>
        </p:txBody>
      </p:sp>
      <p:sp>
        <p:nvSpPr>
          <p:cNvPr id="82" name="Triangolo isoscele 81"/>
          <p:cNvSpPr/>
          <p:nvPr/>
        </p:nvSpPr>
        <p:spPr>
          <a:xfrm rot="16200000">
            <a:off x="2724103" y="4121320"/>
            <a:ext cx="301659" cy="260051"/>
          </a:xfrm>
          <a:prstGeom prst="triangle">
            <a:avLst/>
          </a:prstGeom>
          <a:solidFill>
            <a:srgbClr val="FF0000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83" name="Rettangolo 82"/>
          <p:cNvSpPr/>
          <p:nvPr/>
        </p:nvSpPr>
        <p:spPr>
          <a:xfrm>
            <a:off x="1900137" y="4616938"/>
            <a:ext cx="501185" cy="238108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84" name="Ovale 83"/>
          <p:cNvSpPr/>
          <p:nvPr/>
        </p:nvSpPr>
        <p:spPr>
          <a:xfrm>
            <a:off x="4371007" y="4242720"/>
            <a:ext cx="1302611" cy="982897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Robot Proxy</a:t>
            </a:r>
          </a:p>
        </p:txBody>
      </p:sp>
      <p:sp>
        <p:nvSpPr>
          <p:cNvPr id="85" name="Triangolo isoscele 84"/>
          <p:cNvSpPr/>
          <p:nvPr/>
        </p:nvSpPr>
        <p:spPr>
          <a:xfrm rot="16200000">
            <a:off x="4871482" y="4121320"/>
            <a:ext cx="301659" cy="260051"/>
          </a:xfrm>
          <a:prstGeom prst="triangle">
            <a:avLst/>
          </a:prstGeom>
          <a:solidFill>
            <a:srgbClr val="FF0000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86" name="Ovale 85"/>
          <p:cNvSpPr/>
          <p:nvPr/>
        </p:nvSpPr>
        <p:spPr>
          <a:xfrm>
            <a:off x="2220389" y="1632384"/>
            <a:ext cx="1302611" cy="982897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Planner Util</a:t>
            </a:r>
          </a:p>
        </p:txBody>
      </p:sp>
      <p:cxnSp>
        <p:nvCxnSpPr>
          <p:cNvPr id="87" name="Connettore 2 86"/>
          <p:cNvCxnSpPr/>
          <p:nvPr/>
        </p:nvCxnSpPr>
        <p:spPr>
          <a:xfrm flipH="1" flipV="1">
            <a:off x="2873853" y="3629746"/>
            <a:ext cx="2157" cy="541872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8" name="Rettangolo arrotondato 87"/>
          <p:cNvSpPr/>
          <p:nvPr/>
        </p:nvSpPr>
        <p:spPr>
          <a:xfrm>
            <a:off x="2065457" y="3157761"/>
            <a:ext cx="1616791" cy="47158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Directional Planner</a:t>
            </a:r>
          </a:p>
        </p:txBody>
      </p:sp>
      <p:cxnSp>
        <p:nvCxnSpPr>
          <p:cNvPr id="89" name="Connettore 2 88"/>
          <p:cNvCxnSpPr/>
          <p:nvPr/>
        </p:nvCxnSpPr>
        <p:spPr>
          <a:xfrm flipH="1" flipV="1">
            <a:off x="2871695" y="2615484"/>
            <a:ext cx="2157" cy="541872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Connettore 2 94"/>
          <p:cNvCxnSpPr/>
          <p:nvPr/>
        </p:nvCxnSpPr>
        <p:spPr>
          <a:xfrm>
            <a:off x="3526239" y="4647909"/>
            <a:ext cx="844768" cy="0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Connettore 2 95"/>
          <p:cNvCxnSpPr/>
          <p:nvPr/>
        </p:nvCxnSpPr>
        <p:spPr>
          <a:xfrm flipH="1">
            <a:off x="3523000" y="4820428"/>
            <a:ext cx="844768" cy="1823"/>
          </a:xfrm>
          <a:prstGeom prst="straightConnector1">
            <a:avLst/>
          </a:prstGeom>
          <a:ln w="19050">
            <a:solidFill>
              <a:schemeClr val="tx1"/>
            </a:solidFill>
            <a:prstDash val="sys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Ovale 96"/>
          <p:cNvSpPr/>
          <p:nvPr/>
        </p:nvSpPr>
        <p:spPr>
          <a:xfrm>
            <a:off x="6841875" y="4242720"/>
            <a:ext cx="1302611" cy="982897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Basic Step Robot</a:t>
            </a:r>
          </a:p>
        </p:txBody>
      </p:sp>
      <p:sp>
        <p:nvSpPr>
          <p:cNvPr id="98" name="Triangolo isoscele 97"/>
          <p:cNvSpPr/>
          <p:nvPr/>
        </p:nvSpPr>
        <p:spPr>
          <a:xfrm rot="16200000">
            <a:off x="7342350" y="4121320"/>
            <a:ext cx="301659" cy="260051"/>
          </a:xfrm>
          <a:prstGeom prst="triangle">
            <a:avLst/>
          </a:prstGeom>
          <a:solidFill>
            <a:srgbClr val="FF0000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99" name="Rettangolo 98"/>
          <p:cNvSpPr/>
          <p:nvPr/>
        </p:nvSpPr>
        <p:spPr>
          <a:xfrm>
            <a:off x="6518384" y="4616938"/>
            <a:ext cx="501185" cy="238108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cxnSp>
        <p:nvCxnSpPr>
          <p:cNvPr id="100" name="Connettore 2 99"/>
          <p:cNvCxnSpPr/>
          <p:nvPr/>
        </p:nvCxnSpPr>
        <p:spPr>
          <a:xfrm>
            <a:off x="5673617" y="4647907"/>
            <a:ext cx="844768" cy="1823"/>
          </a:xfrm>
          <a:prstGeom prst="straightConnector1">
            <a:avLst/>
          </a:prstGeom>
          <a:ln w="19050">
            <a:solidFill>
              <a:schemeClr val="tx1"/>
            </a:solidFill>
            <a:prstDash val="sys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Ovale 100"/>
          <p:cNvSpPr/>
          <p:nvPr/>
        </p:nvSpPr>
        <p:spPr>
          <a:xfrm>
            <a:off x="8989252" y="4242720"/>
            <a:ext cx="1302611" cy="982897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WEnv</a:t>
            </a:r>
          </a:p>
        </p:txBody>
      </p:sp>
      <p:sp>
        <p:nvSpPr>
          <p:cNvPr id="102" name="Triangolo isoscele 101"/>
          <p:cNvSpPr/>
          <p:nvPr/>
        </p:nvSpPr>
        <p:spPr>
          <a:xfrm rot="16200000">
            <a:off x="9489727" y="4121320"/>
            <a:ext cx="301659" cy="260051"/>
          </a:xfrm>
          <a:prstGeom prst="triangle">
            <a:avLst/>
          </a:prstGeom>
          <a:solidFill>
            <a:srgbClr val="FF0000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cxnSp>
        <p:nvCxnSpPr>
          <p:cNvPr id="103" name="Connettore 2 102"/>
          <p:cNvCxnSpPr/>
          <p:nvPr/>
        </p:nvCxnSpPr>
        <p:spPr>
          <a:xfrm flipV="1">
            <a:off x="8144484" y="4634422"/>
            <a:ext cx="721852" cy="2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Triangolo isoscele 103"/>
          <p:cNvSpPr/>
          <p:nvPr/>
        </p:nvSpPr>
        <p:spPr>
          <a:xfrm rot="16200000" flipV="1">
            <a:off x="8856502" y="4572964"/>
            <a:ext cx="142583" cy="122916"/>
          </a:xfrm>
          <a:prstGeom prst="triangle">
            <a:avLst/>
          </a:prstGeom>
          <a:solidFill>
            <a:schemeClr val="bg1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cxnSp>
        <p:nvCxnSpPr>
          <p:cNvPr id="105" name="Connettore 2 104"/>
          <p:cNvCxnSpPr/>
          <p:nvPr/>
        </p:nvCxnSpPr>
        <p:spPr>
          <a:xfrm flipV="1">
            <a:off x="8267400" y="4833910"/>
            <a:ext cx="721852" cy="2"/>
          </a:xfrm>
          <a:prstGeom prst="straightConnector1">
            <a:avLst/>
          </a:prstGeom>
          <a:ln w="19050">
            <a:solidFill>
              <a:schemeClr val="tx1"/>
            </a:solidFill>
            <a:prstDash val="sys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6" name="Triangolo isoscele 105"/>
          <p:cNvSpPr/>
          <p:nvPr/>
        </p:nvSpPr>
        <p:spPr>
          <a:xfrm rot="5400000" flipH="1" flipV="1">
            <a:off x="8167744" y="4772454"/>
            <a:ext cx="142583" cy="122916"/>
          </a:xfrm>
          <a:prstGeom prst="triangle">
            <a:avLst/>
          </a:prstGeom>
          <a:solidFill>
            <a:schemeClr val="bg1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cxnSp>
        <p:nvCxnSpPr>
          <p:cNvPr id="25" name="Connettore 2 24"/>
          <p:cNvCxnSpPr/>
          <p:nvPr/>
        </p:nvCxnSpPr>
        <p:spPr>
          <a:xfrm flipH="1">
            <a:off x="5673615" y="4818605"/>
            <a:ext cx="844768" cy="1823"/>
          </a:xfrm>
          <a:prstGeom prst="straightConnector1">
            <a:avLst/>
          </a:prstGeom>
          <a:ln w="19050">
            <a:solidFill>
              <a:schemeClr val="tx1"/>
            </a:solidFill>
            <a:prstDash val="sys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CasellaDiTesto 23"/>
          <p:cNvSpPr txBox="1"/>
          <p:nvPr/>
        </p:nvSpPr>
        <p:spPr>
          <a:xfrm>
            <a:off x="3442320" y="3966027"/>
            <a:ext cx="120257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200" dirty="0" smtClean="0">
                <a:solidFill>
                  <a:schemeClr val="accent1">
                    <a:lumMod val="75000"/>
                  </a:schemeClr>
                </a:solidFill>
                <a:latin typeface="Bookman Old Style" panose="02050604050505020204" pitchFamily="18" charset="0"/>
              </a:rPr>
              <a:t>move forward</a:t>
            </a:r>
          </a:p>
          <a:p>
            <a:r>
              <a:rPr lang="it-IT" sz="1200" dirty="0" smtClean="0">
                <a:solidFill>
                  <a:schemeClr val="accent1">
                    <a:lumMod val="75000"/>
                  </a:schemeClr>
                </a:solidFill>
                <a:latin typeface="Bookman Old Style" panose="02050604050505020204" pitchFamily="18" charset="0"/>
              </a:rPr>
              <a:t>rotate left</a:t>
            </a:r>
          </a:p>
          <a:p>
            <a:r>
              <a:rPr lang="it-IT" sz="1200" dirty="0" smtClean="0">
                <a:solidFill>
                  <a:schemeClr val="accent1">
                    <a:lumMod val="75000"/>
                  </a:schemeClr>
                </a:solidFill>
                <a:latin typeface="Bookman Old Style" panose="02050604050505020204" pitchFamily="18" charset="0"/>
              </a:rPr>
              <a:t>rotate right</a:t>
            </a:r>
            <a:endParaRPr lang="it-IT" sz="1200" dirty="0">
              <a:solidFill>
                <a:schemeClr val="accent1">
                  <a:lumMod val="75000"/>
                </a:schemeClr>
              </a:solidFill>
              <a:latin typeface="Bookman Old Style" panose="02050604050505020204" pitchFamily="18" charset="0"/>
            </a:endParaRPr>
          </a:p>
        </p:txBody>
      </p:sp>
      <p:sp>
        <p:nvSpPr>
          <p:cNvPr id="26" name="CasellaDiTesto 25"/>
          <p:cNvSpPr txBox="1"/>
          <p:nvPr/>
        </p:nvSpPr>
        <p:spPr>
          <a:xfrm>
            <a:off x="5813150" y="3966026"/>
            <a:ext cx="60465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200" dirty="0" smtClean="0">
                <a:solidFill>
                  <a:schemeClr val="accent1">
                    <a:lumMod val="75000"/>
                  </a:schemeClr>
                </a:solidFill>
                <a:latin typeface="Bookman Old Style" panose="02050604050505020204" pitchFamily="18" charset="0"/>
              </a:rPr>
              <a:t>aril w</a:t>
            </a:r>
          </a:p>
          <a:p>
            <a:r>
              <a:rPr lang="it-IT" sz="1200" dirty="0" smtClean="0">
                <a:solidFill>
                  <a:schemeClr val="accent1">
                    <a:lumMod val="75000"/>
                  </a:schemeClr>
                </a:solidFill>
                <a:latin typeface="Bookman Old Style" panose="02050604050505020204" pitchFamily="18" charset="0"/>
              </a:rPr>
              <a:t>aril l</a:t>
            </a:r>
          </a:p>
          <a:p>
            <a:r>
              <a:rPr lang="it-IT" sz="1200" dirty="0" smtClean="0">
                <a:solidFill>
                  <a:schemeClr val="accent1">
                    <a:lumMod val="75000"/>
                  </a:schemeClr>
                </a:solidFill>
                <a:latin typeface="Bookman Old Style" panose="02050604050505020204" pitchFamily="18" charset="0"/>
              </a:rPr>
              <a:t>aril r</a:t>
            </a:r>
            <a:endParaRPr lang="it-IT" sz="1200" dirty="0">
              <a:solidFill>
                <a:schemeClr val="accent1">
                  <a:lumMod val="75000"/>
                </a:schemeClr>
              </a:solidFill>
              <a:latin typeface="Bookman Old Style" panose="02050604050505020204" pitchFamily="18" charset="0"/>
            </a:endParaRPr>
          </a:p>
        </p:txBody>
      </p:sp>
      <p:sp>
        <p:nvSpPr>
          <p:cNvPr id="27" name="CasellaDiTesto 26"/>
          <p:cNvSpPr txBox="1"/>
          <p:nvPr/>
        </p:nvSpPr>
        <p:spPr>
          <a:xfrm>
            <a:off x="7690842" y="3856017"/>
            <a:ext cx="196880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200" dirty="0" smtClean="0">
                <a:solidFill>
                  <a:schemeClr val="accent1">
                    <a:lumMod val="75000"/>
                  </a:schemeClr>
                </a:solidFill>
                <a:latin typeface="Bookman Old Style" panose="02050604050505020204" pitchFamily="18" charset="0"/>
              </a:rPr>
              <a:t>"robotmove": "&lt;MOVE&gt;"</a:t>
            </a:r>
          </a:p>
          <a:p>
            <a:r>
              <a:rPr lang="it-IT" sz="1200" dirty="0" smtClean="0">
                <a:solidFill>
                  <a:schemeClr val="accent1">
                    <a:lumMod val="75000"/>
                  </a:schemeClr>
                </a:solidFill>
                <a:latin typeface="Bookman Old Style" panose="02050604050505020204" pitchFamily="18" charset="0"/>
              </a:rPr>
              <a:t>"time": "&lt;T&gt;"</a:t>
            </a:r>
            <a:endParaRPr lang="it-IT" sz="1200" dirty="0">
              <a:solidFill>
                <a:schemeClr val="accent1">
                  <a:lumMod val="75000"/>
                </a:schemeClr>
              </a:solidFill>
              <a:latin typeface="Bookman Old Style" panose="02050604050505020204" pitchFamily="18" charset="0"/>
            </a:endParaRPr>
          </a:p>
        </p:txBody>
      </p:sp>
      <p:sp>
        <p:nvSpPr>
          <p:cNvPr id="28" name="CasellaDiTesto 27"/>
          <p:cNvSpPr txBox="1"/>
          <p:nvPr/>
        </p:nvSpPr>
        <p:spPr>
          <a:xfrm>
            <a:off x="7568902" y="3851235"/>
            <a:ext cx="25680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2000" dirty="0" smtClean="0">
                <a:solidFill>
                  <a:schemeClr val="accent1">
                    <a:lumMod val="75000"/>
                  </a:schemeClr>
                </a:solidFill>
                <a:latin typeface="Bookman Old Style" panose="02050604050505020204" pitchFamily="18" charset="0"/>
              </a:rPr>
              <a:t>{</a:t>
            </a:r>
            <a:endParaRPr lang="it-IT" sz="2000" dirty="0">
              <a:solidFill>
                <a:schemeClr val="accent1">
                  <a:lumMod val="75000"/>
                </a:schemeClr>
              </a:solidFill>
              <a:latin typeface="Bookman Old Style" panose="02050604050505020204" pitchFamily="18" charset="0"/>
            </a:endParaRPr>
          </a:p>
        </p:txBody>
      </p:sp>
      <p:sp>
        <p:nvSpPr>
          <p:cNvPr id="29" name="CasellaDiTesto 28"/>
          <p:cNvSpPr txBox="1"/>
          <p:nvPr/>
        </p:nvSpPr>
        <p:spPr>
          <a:xfrm>
            <a:off x="9479276" y="3833209"/>
            <a:ext cx="25680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2000" dirty="0" smtClean="0">
                <a:solidFill>
                  <a:schemeClr val="accent1">
                    <a:lumMod val="75000"/>
                  </a:schemeClr>
                </a:solidFill>
                <a:latin typeface="Bookman Old Style" panose="02050604050505020204" pitchFamily="18" charset="0"/>
              </a:rPr>
              <a:t>}</a:t>
            </a:r>
            <a:endParaRPr lang="it-IT" sz="2000" dirty="0">
              <a:solidFill>
                <a:schemeClr val="accent1">
                  <a:lumMod val="75000"/>
                </a:schemeClr>
              </a:solidFill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4992406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6" name="Connettore 4 55"/>
          <p:cNvCxnSpPr/>
          <p:nvPr/>
        </p:nvCxnSpPr>
        <p:spPr>
          <a:xfrm rot="10800000">
            <a:off x="6367683" y="2206509"/>
            <a:ext cx="1810597" cy="2244137"/>
          </a:xfrm>
          <a:prstGeom prst="bentConnector2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" name="Connettore 4 132"/>
          <p:cNvCxnSpPr/>
          <p:nvPr/>
        </p:nvCxnSpPr>
        <p:spPr>
          <a:xfrm flipV="1">
            <a:off x="3735784" y="2206508"/>
            <a:ext cx="1810599" cy="749213"/>
          </a:xfrm>
          <a:prstGeom prst="bentConnector2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Rettangolo arrotondato 3"/>
          <p:cNvSpPr/>
          <p:nvPr/>
        </p:nvSpPr>
        <p:spPr>
          <a:xfrm>
            <a:off x="2498048" y="1775042"/>
            <a:ext cx="1652621" cy="440431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acceptIN</a:t>
            </a:r>
          </a:p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/</a:t>
            </a:r>
            <a:r>
              <a:rPr lang="it-IT" sz="1400" dirty="0">
                <a:solidFill>
                  <a:schemeClr val="accent2">
                    <a:lumMod val="75000"/>
                  </a:schemeClr>
                </a:solidFill>
                <a:latin typeface="Century Schoolbook" panose="02040604050505020304" pitchFamily="18" charset="0"/>
              </a:rPr>
              <a:t>send notice</a:t>
            </a:r>
          </a:p>
        </p:txBody>
      </p:sp>
      <p:sp>
        <p:nvSpPr>
          <p:cNvPr id="5" name="Rettangolo arrotondato 4"/>
          <p:cNvSpPr/>
          <p:nvPr/>
        </p:nvSpPr>
        <p:spPr>
          <a:xfrm>
            <a:off x="2498046" y="2735505"/>
            <a:ext cx="1652621" cy="440431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informIN</a:t>
            </a:r>
          </a:p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/</a:t>
            </a:r>
            <a:r>
              <a:rPr lang="it-IT" sz="1400" dirty="0">
                <a:solidFill>
                  <a:schemeClr val="accent2">
                    <a:lumMod val="75000"/>
                  </a:schemeClr>
                </a:solidFill>
                <a:latin typeface="Century Schoolbook" panose="02040604050505020304" pitchFamily="18" charset="0"/>
              </a:rPr>
              <a:t>SLOTNUM</a:t>
            </a:r>
          </a:p>
        </p:txBody>
      </p:sp>
      <p:sp>
        <p:nvSpPr>
          <p:cNvPr id="15" name="Rettangolo arrotondato 14"/>
          <p:cNvSpPr/>
          <p:nvPr/>
        </p:nvSpPr>
        <p:spPr>
          <a:xfrm>
            <a:off x="2498048" y="3482967"/>
            <a:ext cx="1652621" cy="440431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moveToIn</a:t>
            </a:r>
          </a:p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/</a:t>
            </a:r>
            <a:r>
              <a:rPr lang="it-IT" sz="1400" dirty="0">
                <a:solidFill>
                  <a:schemeClr val="accent2">
                    <a:lumMod val="75000"/>
                  </a:schemeClr>
                </a:solidFill>
                <a:latin typeface="Century Schoolbook" panose="02040604050505020304" pitchFamily="18" charset="0"/>
              </a:rPr>
              <a:t>goto INDOOR</a:t>
            </a:r>
          </a:p>
        </p:txBody>
      </p:sp>
      <p:sp>
        <p:nvSpPr>
          <p:cNvPr id="16" name="Rettangolo arrotondato 15"/>
          <p:cNvSpPr/>
          <p:nvPr/>
        </p:nvSpPr>
        <p:spPr>
          <a:xfrm>
            <a:off x="2498048" y="4231755"/>
            <a:ext cx="1652621" cy="440431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receipt</a:t>
            </a:r>
          </a:p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/</a:t>
            </a:r>
            <a:r>
              <a:rPr lang="it-IT" sz="1400" dirty="0">
                <a:solidFill>
                  <a:schemeClr val="accent2">
                    <a:lumMod val="75000"/>
                  </a:schemeClr>
                </a:solidFill>
                <a:latin typeface="Century Schoolbook" panose="02040604050505020304" pitchFamily="18" charset="0"/>
              </a:rPr>
              <a:t>TOKENID</a:t>
            </a:r>
          </a:p>
        </p:txBody>
      </p:sp>
      <p:sp>
        <p:nvSpPr>
          <p:cNvPr id="17" name="Rettangolo arrotondato 16"/>
          <p:cNvSpPr/>
          <p:nvPr/>
        </p:nvSpPr>
        <p:spPr>
          <a:xfrm>
            <a:off x="2498048" y="4977891"/>
            <a:ext cx="1652621" cy="440431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moveToSlotIn</a:t>
            </a:r>
          </a:p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/</a:t>
            </a:r>
            <a:r>
              <a:rPr lang="it-IT" sz="1400" dirty="0">
                <a:solidFill>
                  <a:schemeClr val="accent2">
                    <a:lumMod val="75000"/>
                  </a:schemeClr>
                </a:solidFill>
                <a:latin typeface="Century Schoolbook" panose="02040604050505020304" pitchFamily="18" charset="0"/>
              </a:rPr>
              <a:t>goto SLOT</a:t>
            </a:r>
          </a:p>
        </p:txBody>
      </p:sp>
      <p:sp>
        <p:nvSpPr>
          <p:cNvPr id="19" name="Rettangolo arrotondato 18"/>
          <p:cNvSpPr/>
          <p:nvPr/>
        </p:nvSpPr>
        <p:spPr>
          <a:xfrm>
            <a:off x="7771865" y="1775042"/>
            <a:ext cx="1652621" cy="440431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acceptOUT</a:t>
            </a:r>
          </a:p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/</a:t>
            </a:r>
            <a:r>
              <a:rPr lang="it-IT" sz="1400" dirty="0">
                <a:solidFill>
                  <a:schemeClr val="accent2">
                    <a:lumMod val="75000"/>
                  </a:schemeClr>
                </a:solidFill>
                <a:latin typeface="Century Schoolbook" panose="02040604050505020304" pitchFamily="18" charset="0"/>
              </a:rPr>
              <a:t>send notice</a:t>
            </a:r>
          </a:p>
        </p:txBody>
      </p:sp>
      <p:sp>
        <p:nvSpPr>
          <p:cNvPr id="21" name="Rettangolo arrotondato 20"/>
          <p:cNvSpPr/>
          <p:nvPr/>
        </p:nvSpPr>
        <p:spPr>
          <a:xfrm>
            <a:off x="5134955" y="1766077"/>
            <a:ext cx="1652621" cy="440431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moveToHome</a:t>
            </a:r>
          </a:p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/ </a:t>
            </a:r>
            <a:r>
              <a:rPr lang="it-IT" sz="1400" dirty="0">
                <a:solidFill>
                  <a:schemeClr val="accent2">
                    <a:lumMod val="75000"/>
                  </a:schemeClr>
                </a:solidFill>
                <a:latin typeface="Century Schoolbook" panose="02040604050505020304" pitchFamily="18" charset="0"/>
              </a:rPr>
              <a:t>goto HOME</a:t>
            </a:r>
          </a:p>
        </p:txBody>
      </p:sp>
      <p:sp>
        <p:nvSpPr>
          <p:cNvPr id="22" name="Rettangolo arrotondato 21"/>
          <p:cNvSpPr/>
          <p:nvPr/>
        </p:nvSpPr>
        <p:spPr>
          <a:xfrm>
            <a:off x="7771864" y="2735505"/>
            <a:ext cx="1652621" cy="440431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findSlot</a:t>
            </a:r>
          </a:p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/</a:t>
            </a:r>
            <a:r>
              <a:rPr lang="it-IT" sz="1400" dirty="0">
                <a:solidFill>
                  <a:schemeClr val="accent2">
                    <a:lumMod val="75000"/>
                  </a:schemeClr>
                </a:solidFill>
                <a:latin typeface="Century Schoolbook" panose="02040604050505020304" pitchFamily="18" charset="0"/>
              </a:rPr>
              <a:t>CARSLOTNUM</a:t>
            </a:r>
          </a:p>
        </p:txBody>
      </p:sp>
      <p:sp>
        <p:nvSpPr>
          <p:cNvPr id="23" name="Rettangolo arrotondato 22"/>
          <p:cNvSpPr/>
          <p:nvPr/>
        </p:nvSpPr>
        <p:spPr>
          <a:xfrm>
            <a:off x="7771864" y="3484293"/>
            <a:ext cx="1652621" cy="440431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moveToSlotOut</a:t>
            </a:r>
          </a:p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/</a:t>
            </a:r>
            <a:r>
              <a:rPr lang="it-IT" sz="1400" dirty="0">
                <a:solidFill>
                  <a:schemeClr val="accent2">
                    <a:lumMod val="75000"/>
                  </a:schemeClr>
                </a:solidFill>
                <a:latin typeface="Century Schoolbook" panose="02040604050505020304" pitchFamily="18" charset="0"/>
              </a:rPr>
              <a:t>goto SLOT</a:t>
            </a:r>
          </a:p>
        </p:txBody>
      </p:sp>
      <p:sp>
        <p:nvSpPr>
          <p:cNvPr id="25" name="Rettangolo arrotondato 24"/>
          <p:cNvSpPr/>
          <p:nvPr/>
        </p:nvSpPr>
        <p:spPr>
          <a:xfrm>
            <a:off x="7771863" y="4230429"/>
            <a:ext cx="1652621" cy="440431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moveToOut</a:t>
            </a:r>
          </a:p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/</a:t>
            </a:r>
            <a:r>
              <a:rPr lang="it-IT" sz="1400" dirty="0">
                <a:solidFill>
                  <a:schemeClr val="accent2">
                    <a:lumMod val="75000"/>
                  </a:schemeClr>
                </a:solidFill>
                <a:latin typeface="Century Schoolbook" panose="02040604050505020304" pitchFamily="18" charset="0"/>
              </a:rPr>
              <a:t>goto OUTDOOR</a:t>
            </a:r>
          </a:p>
        </p:txBody>
      </p:sp>
      <p:cxnSp>
        <p:nvCxnSpPr>
          <p:cNvPr id="115" name="Connettore 4 114"/>
          <p:cNvCxnSpPr>
            <a:stCxn id="17" idx="3"/>
            <a:endCxn id="21" idx="2"/>
          </p:cNvCxnSpPr>
          <p:nvPr/>
        </p:nvCxnSpPr>
        <p:spPr>
          <a:xfrm flipV="1">
            <a:off x="4150669" y="2206508"/>
            <a:ext cx="1810597" cy="2991599"/>
          </a:xfrm>
          <a:prstGeom prst="bentConnector2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" name="Connettore 2 136"/>
          <p:cNvCxnSpPr>
            <a:stCxn id="19" idx="2"/>
            <a:endCxn id="22" idx="0"/>
          </p:cNvCxnSpPr>
          <p:nvPr/>
        </p:nvCxnSpPr>
        <p:spPr>
          <a:xfrm flipH="1">
            <a:off x="8598175" y="2215473"/>
            <a:ext cx="1" cy="520032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0" name="Connettore 2 139"/>
          <p:cNvCxnSpPr>
            <a:stCxn id="22" idx="2"/>
            <a:endCxn id="23" idx="0"/>
          </p:cNvCxnSpPr>
          <p:nvPr/>
        </p:nvCxnSpPr>
        <p:spPr>
          <a:xfrm>
            <a:off x="8598175" y="3175936"/>
            <a:ext cx="0" cy="30835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3" name="Connettore 2 142"/>
          <p:cNvCxnSpPr>
            <a:stCxn id="23" idx="2"/>
            <a:endCxn id="25" idx="0"/>
          </p:cNvCxnSpPr>
          <p:nvPr/>
        </p:nvCxnSpPr>
        <p:spPr>
          <a:xfrm flipH="1">
            <a:off x="8598174" y="3924724"/>
            <a:ext cx="1" cy="30570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" name="Connettore 2 145"/>
          <p:cNvCxnSpPr>
            <a:stCxn id="4" idx="2"/>
            <a:endCxn id="5" idx="0"/>
          </p:cNvCxnSpPr>
          <p:nvPr/>
        </p:nvCxnSpPr>
        <p:spPr>
          <a:xfrm flipH="1">
            <a:off x="3324357" y="2215473"/>
            <a:ext cx="2" cy="520032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9" name="Connettore 2 148"/>
          <p:cNvCxnSpPr>
            <a:stCxn id="5" idx="2"/>
            <a:endCxn id="15" idx="0"/>
          </p:cNvCxnSpPr>
          <p:nvPr/>
        </p:nvCxnSpPr>
        <p:spPr>
          <a:xfrm>
            <a:off x="3324357" y="3175936"/>
            <a:ext cx="2" cy="307031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2" name="Connettore 2 151"/>
          <p:cNvCxnSpPr>
            <a:stCxn id="15" idx="2"/>
            <a:endCxn id="16" idx="0"/>
          </p:cNvCxnSpPr>
          <p:nvPr/>
        </p:nvCxnSpPr>
        <p:spPr>
          <a:xfrm>
            <a:off x="3324359" y="3923398"/>
            <a:ext cx="0" cy="30835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5" name="Connettore 2 154"/>
          <p:cNvCxnSpPr>
            <a:stCxn id="16" idx="2"/>
            <a:endCxn id="17" idx="0"/>
          </p:cNvCxnSpPr>
          <p:nvPr/>
        </p:nvCxnSpPr>
        <p:spPr>
          <a:xfrm>
            <a:off x="3324359" y="4672186"/>
            <a:ext cx="0" cy="30570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CasellaDiTesto 29"/>
          <p:cNvSpPr txBox="1"/>
          <p:nvPr/>
        </p:nvSpPr>
        <p:spPr>
          <a:xfrm>
            <a:off x="1975911" y="3167783"/>
            <a:ext cx="134844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400" dirty="0">
                <a:solidFill>
                  <a:schemeClr val="accent1">
                    <a:lumMod val="75000"/>
                  </a:schemeClr>
                </a:solidFill>
                <a:latin typeface="Century Schoolbook" panose="02040604050505020304" pitchFamily="18" charset="0"/>
              </a:rPr>
              <a:t>SLOTNUM&gt;0</a:t>
            </a:r>
            <a:endParaRPr lang="it-IT" sz="1400" dirty="0">
              <a:solidFill>
                <a:schemeClr val="accent2">
                  <a:lumMod val="75000"/>
                </a:schemeClr>
              </a:solidFill>
              <a:latin typeface="Century Schoolbook" panose="02040604050505020304" pitchFamily="18" charset="0"/>
            </a:endParaRPr>
          </a:p>
        </p:txBody>
      </p:sp>
      <p:sp>
        <p:nvSpPr>
          <p:cNvPr id="31" name="CasellaDiTesto 30"/>
          <p:cNvSpPr txBox="1"/>
          <p:nvPr/>
        </p:nvSpPr>
        <p:spPr>
          <a:xfrm>
            <a:off x="4148563" y="2646939"/>
            <a:ext cx="134844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400" dirty="0">
                <a:solidFill>
                  <a:schemeClr val="accent1">
                    <a:lumMod val="75000"/>
                  </a:schemeClr>
                </a:solidFill>
                <a:latin typeface="Century Schoolbook" panose="02040604050505020304" pitchFamily="18" charset="0"/>
              </a:rPr>
              <a:t>SLOTNUM=0</a:t>
            </a:r>
            <a:endParaRPr lang="it-IT" sz="1400" dirty="0">
              <a:solidFill>
                <a:schemeClr val="accent2">
                  <a:lumMod val="75000"/>
                </a:schemeClr>
              </a:solidFill>
              <a:latin typeface="Century Schoolbook" panose="02040604050505020304" pitchFamily="18" charset="0"/>
            </a:endParaRPr>
          </a:p>
        </p:txBody>
      </p:sp>
      <p:sp>
        <p:nvSpPr>
          <p:cNvPr id="39" name="CasellaDiTesto 38"/>
          <p:cNvSpPr txBox="1"/>
          <p:nvPr/>
        </p:nvSpPr>
        <p:spPr>
          <a:xfrm>
            <a:off x="1585355" y="2321600"/>
            <a:ext cx="174919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400" dirty="0" smtClean="0">
                <a:solidFill>
                  <a:schemeClr val="accent1">
                    <a:lumMod val="75000"/>
                  </a:schemeClr>
                </a:solidFill>
                <a:latin typeface="Century Schoolbook" panose="02040604050505020304" pitchFamily="18" charset="0"/>
              </a:rPr>
              <a:t>INDOOR-area </a:t>
            </a:r>
            <a:r>
              <a:rPr lang="it-IT" sz="1400" dirty="0">
                <a:solidFill>
                  <a:schemeClr val="accent1">
                    <a:lumMod val="75000"/>
                  </a:schemeClr>
                </a:solidFill>
                <a:latin typeface="Century Schoolbook" panose="02040604050505020304" pitchFamily="18" charset="0"/>
              </a:rPr>
              <a:t>free</a:t>
            </a:r>
          </a:p>
        </p:txBody>
      </p:sp>
      <p:sp>
        <p:nvSpPr>
          <p:cNvPr id="40" name="CasellaDiTesto 39"/>
          <p:cNvSpPr txBox="1"/>
          <p:nvPr/>
        </p:nvSpPr>
        <p:spPr>
          <a:xfrm>
            <a:off x="6162958" y="1444730"/>
            <a:ext cx="234551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400" dirty="0">
                <a:solidFill>
                  <a:schemeClr val="accent1">
                    <a:lumMod val="75000"/>
                  </a:schemeClr>
                </a:solidFill>
                <a:latin typeface="Century Schoolbook" panose="02040604050505020304" pitchFamily="18" charset="0"/>
              </a:rPr>
              <a:t>exit request w/ TOKENID</a:t>
            </a:r>
          </a:p>
        </p:txBody>
      </p:sp>
      <p:sp>
        <p:nvSpPr>
          <p:cNvPr id="84" name="CasellaDiTesto 83"/>
          <p:cNvSpPr txBox="1"/>
          <p:nvPr/>
        </p:nvSpPr>
        <p:spPr>
          <a:xfrm>
            <a:off x="2231240" y="3930805"/>
            <a:ext cx="107273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400" dirty="0">
                <a:solidFill>
                  <a:schemeClr val="accent1">
                    <a:lumMod val="75000"/>
                  </a:schemeClr>
                </a:solidFill>
                <a:latin typeface="Century Schoolbook" panose="02040604050505020304" pitchFamily="18" charset="0"/>
              </a:rPr>
              <a:t>when done</a:t>
            </a:r>
            <a:endParaRPr lang="it-IT" sz="1400" dirty="0">
              <a:solidFill>
                <a:schemeClr val="accent2">
                  <a:lumMod val="75000"/>
                </a:schemeClr>
              </a:solidFill>
              <a:latin typeface="Century Schoolbook" panose="02040604050505020304" pitchFamily="18" charset="0"/>
            </a:endParaRPr>
          </a:p>
        </p:txBody>
      </p:sp>
      <p:sp>
        <p:nvSpPr>
          <p:cNvPr id="87" name="CasellaDiTesto 86"/>
          <p:cNvSpPr txBox="1"/>
          <p:nvPr/>
        </p:nvSpPr>
        <p:spPr>
          <a:xfrm>
            <a:off x="4167608" y="4890329"/>
            <a:ext cx="107273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400" dirty="0">
                <a:solidFill>
                  <a:schemeClr val="accent1">
                    <a:lumMod val="75000"/>
                  </a:schemeClr>
                </a:solidFill>
                <a:latin typeface="Century Schoolbook" panose="02040604050505020304" pitchFamily="18" charset="0"/>
              </a:rPr>
              <a:t>when done</a:t>
            </a:r>
            <a:endParaRPr lang="it-IT" sz="1400" dirty="0">
              <a:solidFill>
                <a:schemeClr val="accent2">
                  <a:lumMod val="75000"/>
                </a:schemeClr>
              </a:solidFill>
              <a:latin typeface="Century Schoolbook" panose="02040604050505020304" pitchFamily="18" charset="0"/>
            </a:endParaRPr>
          </a:p>
        </p:txBody>
      </p:sp>
      <p:sp>
        <p:nvSpPr>
          <p:cNvPr id="88" name="CasellaDiTesto 87"/>
          <p:cNvSpPr txBox="1"/>
          <p:nvPr/>
        </p:nvSpPr>
        <p:spPr>
          <a:xfrm>
            <a:off x="8618562" y="3180429"/>
            <a:ext cx="26802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l-GR" sz="1400" dirty="0">
                <a:solidFill>
                  <a:schemeClr val="accent1">
                    <a:lumMod val="75000"/>
                  </a:schemeClr>
                </a:solidFill>
                <a:latin typeface="Century Schoolbook" panose="02040604050505020304" pitchFamily="18" charset="0"/>
              </a:rPr>
              <a:t>ε</a:t>
            </a:r>
            <a:endParaRPr lang="it-IT" sz="1400" dirty="0">
              <a:solidFill>
                <a:schemeClr val="accent1">
                  <a:lumMod val="75000"/>
                </a:schemeClr>
              </a:solidFill>
              <a:latin typeface="Century Schoolbook" panose="02040604050505020304" pitchFamily="18" charset="0"/>
            </a:endParaRPr>
          </a:p>
        </p:txBody>
      </p:sp>
      <p:sp>
        <p:nvSpPr>
          <p:cNvPr id="95" name="CasellaDiTesto 94"/>
          <p:cNvSpPr txBox="1"/>
          <p:nvPr/>
        </p:nvSpPr>
        <p:spPr>
          <a:xfrm>
            <a:off x="8618562" y="3930804"/>
            <a:ext cx="107273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400" dirty="0">
                <a:solidFill>
                  <a:schemeClr val="accent1">
                    <a:lumMod val="75000"/>
                  </a:schemeClr>
                </a:solidFill>
                <a:latin typeface="Century Schoolbook" panose="02040604050505020304" pitchFamily="18" charset="0"/>
              </a:rPr>
              <a:t>when done</a:t>
            </a:r>
            <a:endParaRPr lang="it-IT" sz="1400" dirty="0">
              <a:solidFill>
                <a:schemeClr val="accent2">
                  <a:lumMod val="75000"/>
                </a:schemeClr>
              </a:solidFill>
              <a:latin typeface="Century Schoolbook" panose="02040604050505020304" pitchFamily="18" charset="0"/>
            </a:endParaRPr>
          </a:p>
        </p:txBody>
      </p:sp>
      <p:sp>
        <p:nvSpPr>
          <p:cNvPr id="96" name="CasellaDiTesto 95"/>
          <p:cNvSpPr txBox="1"/>
          <p:nvPr/>
        </p:nvSpPr>
        <p:spPr>
          <a:xfrm>
            <a:off x="6696974" y="4146183"/>
            <a:ext cx="107273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400" dirty="0">
                <a:solidFill>
                  <a:schemeClr val="accent1">
                    <a:lumMod val="75000"/>
                  </a:schemeClr>
                </a:solidFill>
                <a:latin typeface="Century Schoolbook" panose="02040604050505020304" pitchFamily="18" charset="0"/>
              </a:rPr>
              <a:t>when done</a:t>
            </a:r>
            <a:endParaRPr lang="it-IT" sz="1400" dirty="0">
              <a:solidFill>
                <a:schemeClr val="accent2">
                  <a:lumMod val="75000"/>
                </a:schemeClr>
              </a:solidFill>
              <a:latin typeface="Century Schoolbook" panose="02040604050505020304" pitchFamily="18" charset="0"/>
            </a:endParaRPr>
          </a:p>
        </p:txBody>
      </p:sp>
      <p:sp>
        <p:nvSpPr>
          <p:cNvPr id="54" name="CasellaDiTesto 53"/>
          <p:cNvSpPr txBox="1"/>
          <p:nvPr/>
        </p:nvSpPr>
        <p:spPr>
          <a:xfrm>
            <a:off x="3989620" y="1439678"/>
            <a:ext cx="129554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400" dirty="0">
                <a:solidFill>
                  <a:schemeClr val="accent1">
                    <a:lumMod val="75000"/>
                  </a:schemeClr>
                </a:solidFill>
                <a:latin typeface="Century Schoolbook" panose="02040604050505020304" pitchFamily="18" charset="0"/>
              </a:rPr>
              <a:t>enter request</a:t>
            </a:r>
          </a:p>
        </p:txBody>
      </p:sp>
      <p:sp>
        <p:nvSpPr>
          <p:cNvPr id="55" name="CasellaDiTesto 54"/>
          <p:cNvSpPr txBox="1"/>
          <p:nvPr/>
        </p:nvSpPr>
        <p:spPr>
          <a:xfrm>
            <a:off x="8618562" y="2324545"/>
            <a:ext cx="193514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400" dirty="0">
                <a:solidFill>
                  <a:schemeClr val="accent1">
                    <a:lumMod val="75000"/>
                  </a:schemeClr>
                </a:solidFill>
                <a:latin typeface="Century Schoolbook" panose="02040604050505020304" pitchFamily="18" charset="0"/>
              </a:rPr>
              <a:t>OUTDOOR-area free</a:t>
            </a:r>
          </a:p>
        </p:txBody>
      </p:sp>
      <p:cxnSp>
        <p:nvCxnSpPr>
          <p:cNvPr id="68" name="Connettore 2 67"/>
          <p:cNvCxnSpPr/>
          <p:nvPr/>
        </p:nvCxnSpPr>
        <p:spPr>
          <a:xfrm flipH="1">
            <a:off x="4150669" y="1859288"/>
            <a:ext cx="984286" cy="896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Connettore 2 71"/>
          <p:cNvCxnSpPr/>
          <p:nvPr/>
        </p:nvCxnSpPr>
        <p:spPr>
          <a:xfrm flipV="1">
            <a:off x="4150669" y="2113298"/>
            <a:ext cx="984286" cy="896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CasellaDiTesto 75"/>
          <p:cNvSpPr txBox="1"/>
          <p:nvPr/>
        </p:nvSpPr>
        <p:spPr>
          <a:xfrm>
            <a:off x="4133730" y="2094686"/>
            <a:ext cx="50366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400" dirty="0">
                <a:solidFill>
                  <a:schemeClr val="accent1">
                    <a:lumMod val="75000"/>
                  </a:schemeClr>
                </a:solidFill>
                <a:latin typeface="Century Schoolbook" panose="02040604050505020304" pitchFamily="18" charset="0"/>
              </a:rPr>
              <a:t>else</a:t>
            </a:r>
          </a:p>
        </p:txBody>
      </p:sp>
      <p:cxnSp>
        <p:nvCxnSpPr>
          <p:cNvPr id="77" name="Connettore 2 76"/>
          <p:cNvCxnSpPr/>
          <p:nvPr/>
        </p:nvCxnSpPr>
        <p:spPr>
          <a:xfrm flipH="1" flipV="1">
            <a:off x="6787576" y="2113298"/>
            <a:ext cx="984289" cy="896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Connettore 2 80"/>
          <p:cNvCxnSpPr/>
          <p:nvPr/>
        </p:nvCxnSpPr>
        <p:spPr>
          <a:xfrm>
            <a:off x="6787576" y="1859288"/>
            <a:ext cx="984289" cy="896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CasellaDiTesto 84"/>
          <p:cNvSpPr txBox="1"/>
          <p:nvPr/>
        </p:nvSpPr>
        <p:spPr>
          <a:xfrm>
            <a:off x="7266040" y="2111831"/>
            <a:ext cx="50366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400" dirty="0">
                <a:solidFill>
                  <a:schemeClr val="accent1">
                    <a:lumMod val="75000"/>
                  </a:schemeClr>
                </a:solidFill>
                <a:latin typeface="Century Schoolbook" panose="02040604050505020304" pitchFamily="18" charset="0"/>
              </a:rPr>
              <a:t>else</a:t>
            </a:r>
          </a:p>
        </p:txBody>
      </p:sp>
      <p:sp>
        <p:nvSpPr>
          <p:cNvPr id="41" name="CasellaDiTesto 40"/>
          <p:cNvSpPr txBox="1"/>
          <p:nvPr/>
        </p:nvSpPr>
        <p:spPr>
          <a:xfrm>
            <a:off x="3051614" y="4672766"/>
            <a:ext cx="26802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l-GR" sz="1400" dirty="0">
                <a:solidFill>
                  <a:schemeClr val="accent1">
                    <a:lumMod val="75000"/>
                  </a:schemeClr>
                </a:solidFill>
                <a:latin typeface="Century Schoolbook" panose="02040604050505020304" pitchFamily="18" charset="0"/>
              </a:rPr>
              <a:t>ε</a:t>
            </a:r>
            <a:endParaRPr lang="it-IT" sz="1400" dirty="0">
              <a:solidFill>
                <a:schemeClr val="accent1">
                  <a:lumMod val="75000"/>
                </a:schemeClr>
              </a:solidFill>
              <a:latin typeface="Century Schoolbook" panose="020406040505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471364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uppo 2"/>
          <p:cNvGrpSpPr/>
          <p:nvPr/>
        </p:nvGrpSpPr>
        <p:grpSpPr>
          <a:xfrm>
            <a:off x="2194758" y="3153195"/>
            <a:ext cx="1926426" cy="1214172"/>
            <a:chOff x="402476" y="3280190"/>
            <a:chExt cx="1926426" cy="1214172"/>
          </a:xfrm>
        </p:grpSpPr>
        <p:sp>
          <p:nvSpPr>
            <p:cNvPr id="17" name="Ovale 16"/>
            <p:cNvSpPr/>
            <p:nvPr/>
          </p:nvSpPr>
          <p:spPr>
            <a:xfrm>
              <a:off x="667957" y="3428429"/>
              <a:ext cx="1660945" cy="1065933"/>
            </a:xfrm>
            <a:prstGeom prst="ellipse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it-IT" sz="1200" dirty="0" smtClean="0">
                  <a:solidFill>
                    <a:schemeClr val="tx1"/>
                  </a:solidFill>
                  <a:latin typeface="Century Schoolbook" panose="02040604050505020304" pitchFamily="18" charset="0"/>
                </a:rPr>
                <a:t>Sonar</a:t>
              </a:r>
              <a:endParaRPr lang="it-IT" sz="1200" dirty="0">
                <a:solidFill>
                  <a:schemeClr val="tx1"/>
                </a:solidFill>
                <a:latin typeface="Century Schoolbook" panose="02040604050505020304" pitchFamily="18" charset="0"/>
              </a:endParaRPr>
            </a:p>
            <a:p>
              <a:pPr algn="ctr"/>
              <a:r>
                <a:rPr lang="it-IT" sz="1200" dirty="0" smtClean="0">
                  <a:solidFill>
                    <a:schemeClr val="tx1"/>
                  </a:solidFill>
                  <a:latin typeface="Century Schoolbook" panose="02040604050505020304" pitchFamily="18" charset="0"/>
                </a:rPr>
                <a:t>Actor</a:t>
              </a:r>
              <a:endParaRPr lang="it-IT" sz="1200" dirty="0">
                <a:solidFill>
                  <a:schemeClr val="tx1"/>
                </a:solidFill>
                <a:latin typeface="Century Schoolbook" panose="02040604050505020304" pitchFamily="18" charset="0"/>
              </a:endParaRPr>
            </a:p>
          </p:txBody>
        </p:sp>
        <p:sp>
          <p:nvSpPr>
            <p:cNvPr id="18" name="Triangolo isoscele 17"/>
            <p:cNvSpPr/>
            <p:nvPr/>
          </p:nvSpPr>
          <p:spPr>
            <a:xfrm rot="16200000">
              <a:off x="1350190" y="3300636"/>
              <a:ext cx="296478" cy="255585"/>
            </a:xfrm>
            <a:prstGeom prst="triangle">
              <a:avLst/>
            </a:prstGeom>
            <a:solidFill>
              <a:srgbClr val="FF0000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19" name="Rettangolo 18"/>
            <p:cNvSpPr/>
            <p:nvPr/>
          </p:nvSpPr>
          <p:spPr>
            <a:xfrm>
              <a:off x="402476" y="3835268"/>
              <a:ext cx="530961" cy="252254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</p:grpSp>
      <p:grpSp>
        <p:nvGrpSpPr>
          <p:cNvPr id="7" name="Gruppo 6"/>
          <p:cNvGrpSpPr/>
          <p:nvPr/>
        </p:nvGrpSpPr>
        <p:grpSpPr>
          <a:xfrm>
            <a:off x="2145379" y="1882219"/>
            <a:ext cx="1926426" cy="1214172"/>
            <a:chOff x="402476" y="309828"/>
            <a:chExt cx="1926426" cy="1214172"/>
          </a:xfrm>
        </p:grpSpPr>
        <p:sp>
          <p:nvSpPr>
            <p:cNvPr id="24" name="Ovale 23"/>
            <p:cNvSpPr/>
            <p:nvPr/>
          </p:nvSpPr>
          <p:spPr>
            <a:xfrm>
              <a:off x="667957" y="458067"/>
              <a:ext cx="1660945" cy="1065933"/>
            </a:xfrm>
            <a:prstGeom prst="ellipse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it-IT" sz="1200" dirty="0" smtClean="0">
                  <a:solidFill>
                    <a:schemeClr val="tx1"/>
                  </a:solidFill>
                  <a:latin typeface="Century Schoolbook" panose="02040604050505020304" pitchFamily="18" charset="0"/>
                </a:rPr>
                <a:t>Weight</a:t>
              </a:r>
              <a:endParaRPr lang="it-IT" sz="1200" dirty="0">
                <a:solidFill>
                  <a:schemeClr val="tx1"/>
                </a:solidFill>
                <a:latin typeface="Century Schoolbook" panose="02040604050505020304" pitchFamily="18" charset="0"/>
              </a:endParaRPr>
            </a:p>
            <a:p>
              <a:pPr algn="ctr"/>
              <a:r>
                <a:rPr lang="it-IT" sz="1200" dirty="0" smtClean="0">
                  <a:solidFill>
                    <a:schemeClr val="tx1"/>
                  </a:solidFill>
                  <a:latin typeface="Century Schoolbook" panose="02040604050505020304" pitchFamily="18" charset="0"/>
                </a:rPr>
                <a:t>Actor</a:t>
              </a:r>
              <a:endParaRPr lang="it-IT" sz="1200" dirty="0">
                <a:solidFill>
                  <a:schemeClr val="tx1"/>
                </a:solidFill>
                <a:latin typeface="Century Schoolbook" panose="02040604050505020304" pitchFamily="18" charset="0"/>
              </a:endParaRPr>
            </a:p>
          </p:txBody>
        </p:sp>
        <p:sp>
          <p:nvSpPr>
            <p:cNvPr id="25" name="Triangolo isoscele 24"/>
            <p:cNvSpPr/>
            <p:nvPr/>
          </p:nvSpPr>
          <p:spPr>
            <a:xfrm rot="16200000">
              <a:off x="1350190" y="330274"/>
              <a:ext cx="296478" cy="255585"/>
            </a:xfrm>
            <a:prstGeom prst="triangle">
              <a:avLst/>
            </a:prstGeom>
            <a:solidFill>
              <a:srgbClr val="FF0000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26" name="Rettangolo 25"/>
            <p:cNvSpPr/>
            <p:nvPr/>
          </p:nvSpPr>
          <p:spPr>
            <a:xfrm>
              <a:off x="402476" y="864906"/>
              <a:ext cx="530961" cy="252254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</p:grpSp>
      <p:grpSp>
        <p:nvGrpSpPr>
          <p:cNvPr id="33" name="Gruppo 32"/>
          <p:cNvGrpSpPr/>
          <p:nvPr/>
        </p:nvGrpSpPr>
        <p:grpSpPr>
          <a:xfrm>
            <a:off x="5432188" y="2443639"/>
            <a:ext cx="1926426" cy="1214172"/>
            <a:chOff x="402476" y="5184618"/>
            <a:chExt cx="1926426" cy="1214172"/>
          </a:xfrm>
        </p:grpSpPr>
        <p:sp>
          <p:nvSpPr>
            <p:cNvPr id="34" name="Ovale 33"/>
            <p:cNvSpPr/>
            <p:nvPr/>
          </p:nvSpPr>
          <p:spPr>
            <a:xfrm>
              <a:off x="667957" y="5332857"/>
              <a:ext cx="1660945" cy="1065933"/>
            </a:xfrm>
            <a:prstGeom prst="ellipse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it-IT" sz="1200" dirty="0" smtClean="0">
                  <a:solidFill>
                    <a:schemeClr val="tx1"/>
                  </a:solidFill>
                  <a:latin typeface="Century Schoolbook" panose="02040604050505020304" pitchFamily="18" charset="0"/>
                </a:rPr>
                <a:t>Park Manager Service</a:t>
              </a:r>
            </a:p>
            <a:p>
              <a:pPr algn="ctr"/>
              <a:r>
                <a:rPr lang="it-IT" sz="1100" i="1" dirty="0" smtClean="0">
                  <a:solidFill>
                    <a:schemeClr val="tx1"/>
                  </a:solidFill>
                  <a:latin typeface="Century Schoolbook" panose="02040604050505020304" pitchFamily="18" charset="0"/>
                </a:rPr>
                <a:t>(business logic)</a:t>
              </a:r>
              <a:endParaRPr lang="it-IT" sz="1400" i="1" dirty="0">
                <a:solidFill>
                  <a:schemeClr val="tx1"/>
                </a:solidFill>
                <a:latin typeface="Century Schoolbook" panose="02040604050505020304" pitchFamily="18" charset="0"/>
              </a:endParaRPr>
            </a:p>
          </p:txBody>
        </p:sp>
        <p:sp>
          <p:nvSpPr>
            <p:cNvPr id="35" name="Triangolo isoscele 34"/>
            <p:cNvSpPr/>
            <p:nvPr/>
          </p:nvSpPr>
          <p:spPr>
            <a:xfrm rot="16200000">
              <a:off x="1350190" y="5205064"/>
              <a:ext cx="296478" cy="255585"/>
            </a:xfrm>
            <a:prstGeom prst="triangle">
              <a:avLst/>
            </a:prstGeom>
            <a:solidFill>
              <a:srgbClr val="FF0000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36" name="Rettangolo 35"/>
            <p:cNvSpPr/>
            <p:nvPr/>
          </p:nvSpPr>
          <p:spPr>
            <a:xfrm>
              <a:off x="402476" y="5739696"/>
              <a:ext cx="530961" cy="252254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</p:grpSp>
      <p:grpSp>
        <p:nvGrpSpPr>
          <p:cNvPr id="37" name="Gruppo 36"/>
          <p:cNvGrpSpPr/>
          <p:nvPr/>
        </p:nvGrpSpPr>
        <p:grpSpPr>
          <a:xfrm>
            <a:off x="5416991" y="4608344"/>
            <a:ext cx="1926426" cy="1214172"/>
            <a:chOff x="402476" y="5184618"/>
            <a:chExt cx="1926426" cy="1214172"/>
          </a:xfrm>
        </p:grpSpPr>
        <p:sp>
          <p:nvSpPr>
            <p:cNvPr id="38" name="Ovale 37"/>
            <p:cNvSpPr/>
            <p:nvPr/>
          </p:nvSpPr>
          <p:spPr>
            <a:xfrm>
              <a:off x="667957" y="5332857"/>
              <a:ext cx="1660945" cy="1065933"/>
            </a:xfrm>
            <a:prstGeom prst="ellipse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it-IT" sz="1200" dirty="0" smtClean="0">
                  <a:solidFill>
                    <a:schemeClr val="tx1"/>
                  </a:solidFill>
                  <a:latin typeface="Century Schoolbook" panose="02040604050505020304" pitchFamily="18" charset="0"/>
                </a:rPr>
                <a:t>Park Service Status GUI Actor</a:t>
              </a:r>
            </a:p>
            <a:p>
              <a:pPr lvl="0" algn="ctr"/>
              <a:r>
                <a:rPr lang="it-IT" sz="1100" i="1" dirty="0" smtClean="0">
                  <a:solidFill>
                    <a:prstClr val="black"/>
                  </a:solidFill>
                  <a:latin typeface="Century Schoolbook" panose="02040604050505020304" pitchFamily="18" charset="0"/>
                </a:rPr>
                <a:t>(manager’s)</a:t>
              </a:r>
              <a:endParaRPr lang="it-IT" sz="1400" i="1" dirty="0">
                <a:solidFill>
                  <a:prstClr val="black"/>
                </a:solidFill>
                <a:latin typeface="Century Schoolbook" panose="02040604050505020304" pitchFamily="18" charset="0"/>
              </a:endParaRPr>
            </a:p>
          </p:txBody>
        </p:sp>
        <p:sp>
          <p:nvSpPr>
            <p:cNvPr id="39" name="Triangolo isoscele 38"/>
            <p:cNvSpPr/>
            <p:nvPr/>
          </p:nvSpPr>
          <p:spPr>
            <a:xfrm rot="16200000">
              <a:off x="1350190" y="5205064"/>
              <a:ext cx="296478" cy="255585"/>
            </a:xfrm>
            <a:prstGeom prst="triangle">
              <a:avLst/>
            </a:prstGeom>
            <a:solidFill>
              <a:srgbClr val="FF0000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40" name="Rettangolo 39"/>
            <p:cNvSpPr/>
            <p:nvPr/>
          </p:nvSpPr>
          <p:spPr>
            <a:xfrm>
              <a:off x="402476" y="5739696"/>
              <a:ext cx="530961" cy="252254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</p:grpSp>
      <p:grpSp>
        <p:nvGrpSpPr>
          <p:cNvPr id="41" name="Gruppo 40"/>
          <p:cNvGrpSpPr/>
          <p:nvPr/>
        </p:nvGrpSpPr>
        <p:grpSpPr>
          <a:xfrm>
            <a:off x="5432188" y="465287"/>
            <a:ext cx="1926426" cy="1214172"/>
            <a:chOff x="402476" y="5184618"/>
            <a:chExt cx="1926426" cy="1214172"/>
          </a:xfrm>
        </p:grpSpPr>
        <p:sp>
          <p:nvSpPr>
            <p:cNvPr id="42" name="Ovale 41"/>
            <p:cNvSpPr/>
            <p:nvPr/>
          </p:nvSpPr>
          <p:spPr>
            <a:xfrm>
              <a:off x="667957" y="5332857"/>
              <a:ext cx="1660945" cy="1065933"/>
            </a:xfrm>
            <a:prstGeom prst="ellipse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it-IT" sz="1200" dirty="0" smtClean="0">
                  <a:solidFill>
                    <a:schemeClr val="tx1"/>
                  </a:solidFill>
                  <a:latin typeface="Century Schoolbook" panose="02040604050505020304" pitchFamily="18" charset="0"/>
                </a:rPr>
                <a:t>Park Service GUI Actor</a:t>
              </a:r>
            </a:p>
            <a:p>
              <a:pPr lvl="0" algn="ctr"/>
              <a:r>
                <a:rPr lang="it-IT" sz="1100" i="1" dirty="0" smtClean="0">
                  <a:solidFill>
                    <a:prstClr val="black"/>
                  </a:solidFill>
                  <a:latin typeface="Century Schoolbook" panose="02040604050505020304" pitchFamily="18" charset="0"/>
                </a:rPr>
                <a:t>(client’s)</a:t>
              </a:r>
              <a:endParaRPr lang="it-IT" sz="1400" i="1" dirty="0">
                <a:solidFill>
                  <a:prstClr val="black"/>
                </a:solidFill>
                <a:latin typeface="Century Schoolbook" panose="02040604050505020304" pitchFamily="18" charset="0"/>
              </a:endParaRPr>
            </a:p>
          </p:txBody>
        </p:sp>
        <p:sp>
          <p:nvSpPr>
            <p:cNvPr id="43" name="Triangolo isoscele 42"/>
            <p:cNvSpPr/>
            <p:nvPr/>
          </p:nvSpPr>
          <p:spPr>
            <a:xfrm rot="16200000">
              <a:off x="1350190" y="5205064"/>
              <a:ext cx="296478" cy="255585"/>
            </a:xfrm>
            <a:prstGeom prst="triangle">
              <a:avLst/>
            </a:prstGeom>
            <a:solidFill>
              <a:srgbClr val="FF0000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44" name="Rettangolo 43"/>
            <p:cNvSpPr/>
            <p:nvPr/>
          </p:nvSpPr>
          <p:spPr>
            <a:xfrm>
              <a:off x="402476" y="5739696"/>
              <a:ext cx="530961" cy="252254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</p:grpSp>
      <p:grpSp>
        <p:nvGrpSpPr>
          <p:cNvPr id="45" name="Gruppo 44"/>
          <p:cNvGrpSpPr/>
          <p:nvPr/>
        </p:nvGrpSpPr>
        <p:grpSpPr>
          <a:xfrm>
            <a:off x="8474535" y="4670588"/>
            <a:ext cx="1926426" cy="1214172"/>
            <a:chOff x="402476" y="5184618"/>
            <a:chExt cx="1926426" cy="1214172"/>
          </a:xfrm>
        </p:grpSpPr>
        <p:sp>
          <p:nvSpPr>
            <p:cNvPr id="46" name="Ovale 45"/>
            <p:cNvSpPr/>
            <p:nvPr/>
          </p:nvSpPr>
          <p:spPr>
            <a:xfrm>
              <a:off x="667957" y="5332857"/>
              <a:ext cx="1660945" cy="1065933"/>
            </a:xfrm>
            <a:prstGeom prst="ellipse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it-IT" sz="1200" dirty="0" smtClean="0">
                  <a:solidFill>
                    <a:schemeClr val="tx1"/>
                  </a:solidFill>
                  <a:latin typeface="Century Schoolbook" panose="02040604050505020304" pitchFamily="18" charset="0"/>
                </a:rPr>
                <a:t>Fan</a:t>
              </a:r>
            </a:p>
            <a:p>
              <a:pPr algn="ctr"/>
              <a:r>
                <a:rPr lang="it-IT" sz="1200" dirty="0" smtClean="0">
                  <a:solidFill>
                    <a:schemeClr val="tx1"/>
                  </a:solidFill>
                  <a:latin typeface="Century Schoolbook" panose="02040604050505020304" pitchFamily="18" charset="0"/>
                </a:rPr>
                <a:t>Actor</a:t>
              </a:r>
              <a:endParaRPr lang="it-IT" sz="1400" i="1" dirty="0">
                <a:solidFill>
                  <a:schemeClr val="tx1"/>
                </a:solidFill>
                <a:latin typeface="Century Schoolbook" panose="02040604050505020304" pitchFamily="18" charset="0"/>
              </a:endParaRPr>
            </a:p>
          </p:txBody>
        </p:sp>
        <p:sp>
          <p:nvSpPr>
            <p:cNvPr id="47" name="Triangolo isoscele 46"/>
            <p:cNvSpPr/>
            <p:nvPr/>
          </p:nvSpPr>
          <p:spPr>
            <a:xfrm rot="16200000">
              <a:off x="1350190" y="5205064"/>
              <a:ext cx="296478" cy="255585"/>
            </a:xfrm>
            <a:prstGeom prst="triangle">
              <a:avLst/>
            </a:prstGeom>
            <a:solidFill>
              <a:srgbClr val="FF0000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48" name="Rettangolo 47"/>
            <p:cNvSpPr/>
            <p:nvPr/>
          </p:nvSpPr>
          <p:spPr>
            <a:xfrm>
              <a:off x="402476" y="5739696"/>
              <a:ext cx="530961" cy="252254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</p:grpSp>
      <p:sp>
        <p:nvSpPr>
          <p:cNvPr id="58" name="Figura a mano libera 57"/>
          <p:cNvSpPr/>
          <p:nvPr/>
        </p:nvSpPr>
        <p:spPr>
          <a:xfrm>
            <a:off x="4256696" y="2272710"/>
            <a:ext cx="990600" cy="638334"/>
          </a:xfrm>
          <a:custGeom>
            <a:avLst/>
            <a:gdLst>
              <a:gd name="connsiteX0" fmla="*/ 0 w 990600"/>
              <a:gd name="connsiteY0" fmla="*/ 439954 h 638334"/>
              <a:gd name="connsiteX1" fmla="*/ 314325 w 990600"/>
              <a:gd name="connsiteY1" fmla="*/ 439954 h 638334"/>
              <a:gd name="connsiteX2" fmla="*/ 390525 w 990600"/>
              <a:gd name="connsiteY2" fmla="*/ 1804 h 638334"/>
              <a:gd name="connsiteX3" fmla="*/ 571500 w 990600"/>
              <a:gd name="connsiteY3" fmla="*/ 630454 h 638334"/>
              <a:gd name="connsiteX4" fmla="*/ 685800 w 990600"/>
              <a:gd name="connsiteY4" fmla="*/ 354229 h 638334"/>
              <a:gd name="connsiteX5" fmla="*/ 990600 w 990600"/>
              <a:gd name="connsiteY5" fmla="*/ 344704 h 6383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990600" h="638334">
                <a:moveTo>
                  <a:pt x="0" y="439954"/>
                </a:moveTo>
                <a:cubicBezTo>
                  <a:pt x="124619" y="476466"/>
                  <a:pt x="249238" y="512979"/>
                  <a:pt x="314325" y="439954"/>
                </a:cubicBezTo>
                <a:cubicBezTo>
                  <a:pt x="379412" y="366929"/>
                  <a:pt x="347663" y="-29946"/>
                  <a:pt x="390525" y="1804"/>
                </a:cubicBezTo>
                <a:cubicBezTo>
                  <a:pt x="433387" y="33554"/>
                  <a:pt x="522288" y="571717"/>
                  <a:pt x="571500" y="630454"/>
                </a:cubicBezTo>
                <a:cubicBezTo>
                  <a:pt x="620713" y="689192"/>
                  <a:pt x="615950" y="401854"/>
                  <a:pt x="685800" y="354229"/>
                </a:cubicBezTo>
                <a:cubicBezTo>
                  <a:pt x="755650" y="306604"/>
                  <a:pt x="873125" y="325654"/>
                  <a:pt x="990600" y="344704"/>
                </a:cubicBezTo>
              </a:path>
            </a:pathLst>
          </a:custGeom>
          <a:noFill/>
          <a:ln w="15875">
            <a:solidFill>
              <a:schemeClr val="tx1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59" name="Figura a mano libera 58"/>
          <p:cNvSpPr/>
          <p:nvPr/>
        </p:nvSpPr>
        <p:spPr>
          <a:xfrm>
            <a:off x="4219011" y="4978941"/>
            <a:ext cx="990600" cy="638334"/>
          </a:xfrm>
          <a:custGeom>
            <a:avLst/>
            <a:gdLst>
              <a:gd name="connsiteX0" fmla="*/ 0 w 990600"/>
              <a:gd name="connsiteY0" fmla="*/ 439954 h 638334"/>
              <a:gd name="connsiteX1" fmla="*/ 314325 w 990600"/>
              <a:gd name="connsiteY1" fmla="*/ 439954 h 638334"/>
              <a:gd name="connsiteX2" fmla="*/ 390525 w 990600"/>
              <a:gd name="connsiteY2" fmla="*/ 1804 h 638334"/>
              <a:gd name="connsiteX3" fmla="*/ 571500 w 990600"/>
              <a:gd name="connsiteY3" fmla="*/ 630454 h 638334"/>
              <a:gd name="connsiteX4" fmla="*/ 685800 w 990600"/>
              <a:gd name="connsiteY4" fmla="*/ 354229 h 638334"/>
              <a:gd name="connsiteX5" fmla="*/ 990600 w 990600"/>
              <a:gd name="connsiteY5" fmla="*/ 344704 h 6383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990600" h="638334">
                <a:moveTo>
                  <a:pt x="0" y="439954"/>
                </a:moveTo>
                <a:cubicBezTo>
                  <a:pt x="124619" y="476466"/>
                  <a:pt x="249238" y="512979"/>
                  <a:pt x="314325" y="439954"/>
                </a:cubicBezTo>
                <a:cubicBezTo>
                  <a:pt x="379412" y="366929"/>
                  <a:pt x="347663" y="-29946"/>
                  <a:pt x="390525" y="1804"/>
                </a:cubicBezTo>
                <a:cubicBezTo>
                  <a:pt x="433387" y="33554"/>
                  <a:pt x="522288" y="571717"/>
                  <a:pt x="571500" y="630454"/>
                </a:cubicBezTo>
                <a:cubicBezTo>
                  <a:pt x="620713" y="689192"/>
                  <a:pt x="615950" y="401854"/>
                  <a:pt x="685800" y="354229"/>
                </a:cubicBezTo>
                <a:cubicBezTo>
                  <a:pt x="755650" y="306604"/>
                  <a:pt x="873125" y="325654"/>
                  <a:pt x="990600" y="344704"/>
                </a:cubicBezTo>
              </a:path>
            </a:pathLst>
          </a:custGeom>
          <a:noFill/>
          <a:ln w="15875">
            <a:solidFill>
              <a:schemeClr val="tx1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cxnSp>
        <p:nvCxnSpPr>
          <p:cNvPr id="61" name="Connettore 2 60"/>
          <p:cNvCxnSpPr/>
          <p:nvPr/>
        </p:nvCxnSpPr>
        <p:spPr>
          <a:xfrm>
            <a:off x="7450157" y="5351793"/>
            <a:ext cx="945711" cy="0"/>
          </a:xfrm>
          <a:prstGeom prst="straightConnector1">
            <a:avLst/>
          </a:prstGeom>
          <a:ln w="19050">
            <a:solidFill>
              <a:schemeClr val="tx1"/>
            </a:solidFill>
            <a:prstDash val="sys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4" name="Figura a mano libera 73"/>
          <p:cNvSpPr/>
          <p:nvPr/>
        </p:nvSpPr>
        <p:spPr>
          <a:xfrm>
            <a:off x="4360008" y="3209620"/>
            <a:ext cx="990600" cy="638334"/>
          </a:xfrm>
          <a:custGeom>
            <a:avLst/>
            <a:gdLst>
              <a:gd name="connsiteX0" fmla="*/ 0 w 990600"/>
              <a:gd name="connsiteY0" fmla="*/ 439954 h 638334"/>
              <a:gd name="connsiteX1" fmla="*/ 314325 w 990600"/>
              <a:gd name="connsiteY1" fmla="*/ 439954 h 638334"/>
              <a:gd name="connsiteX2" fmla="*/ 390525 w 990600"/>
              <a:gd name="connsiteY2" fmla="*/ 1804 h 638334"/>
              <a:gd name="connsiteX3" fmla="*/ 571500 w 990600"/>
              <a:gd name="connsiteY3" fmla="*/ 630454 h 638334"/>
              <a:gd name="connsiteX4" fmla="*/ 685800 w 990600"/>
              <a:gd name="connsiteY4" fmla="*/ 354229 h 638334"/>
              <a:gd name="connsiteX5" fmla="*/ 990600 w 990600"/>
              <a:gd name="connsiteY5" fmla="*/ 344704 h 6383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990600" h="638334">
                <a:moveTo>
                  <a:pt x="0" y="439954"/>
                </a:moveTo>
                <a:cubicBezTo>
                  <a:pt x="124619" y="476466"/>
                  <a:pt x="249238" y="512979"/>
                  <a:pt x="314325" y="439954"/>
                </a:cubicBezTo>
                <a:cubicBezTo>
                  <a:pt x="379412" y="366929"/>
                  <a:pt x="347663" y="-29946"/>
                  <a:pt x="390525" y="1804"/>
                </a:cubicBezTo>
                <a:cubicBezTo>
                  <a:pt x="433387" y="33554"/>
                  <a:pt x="522288" y="571717"/>
                  <a:pt x="571500" y="630454"/>
                </a:cubicBezTo>
                <a:cubicBezTo>
                  <a:pt x="620713" y="689192"/>
                  <a:pt x="615950" y="401854"/>
                  <a:pt x="685800" y="354229"/>
                </a:cubicBezTo>
                <a:cubicBezTo>
                  <a:pt x="755650" y="306604"/>
                  <a:pt x="873125" y="325654"/>
                  <a:pt x="990600" y="344704"/>
                </a:cubicBezTo>
              </a:path>
            </a:pathLst>
          </a:custGeom>
          <a:noFill/>
          <a:ln w="15875">
            <a:solidFill>
              <a:schemeClr val="tx1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grpSp>
        <p:nvGrpSpPr>
          <p:cNvPr id="75" name="Gruppo 74"/>
          <p:cNvGrpSpPr/>
          <p:nvPr/>
        </p:nvGrpSpPr>
        <p:grpSpPr>
          <a:xfrm>
            <a:off x="7505133" y="2953807"/>
            <a:ext cx="844768" cy="342073"/>
            <a:chOff x="8144484" y="4563130"/>
            <a:chExt cx="844768" cy="342073"/>
          </a:xfrm>
        </p:grpSpPr>
        <p:cxnSp>
          <p:nvCxnSpPr>
            <p:cNvPr id="76" name="Connettore 2 75"/>
            <p:cNvCxnSpPr/>
            <p:nvPr/>
          </p:nvCxnSpPr>
          <p:spPr>
            <a:xfrm flipV="1">
              <a:off x="8144484" y="4634422"/>
              <a:ext cx="721852" cy="2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7" name="Triangolo isoscele 76"/>
            <p:cNvSpPr/>
            <p:nvPr/>
          </p:nvSpPr>
          <p:spPr>
            <a:xfrm rot="16200000" flipV="1">
              <a:off x="8856502" y="4572964"/>
              <a:ext cx="142583" cy="122916"/>
            </a:xfrm>
            <a:prstGeom prst="triangle">
              <a:avLst/>
            </a:prstGeom>
            <a:solidFill>
              <a:schemeClr val="bg1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cxnSp>
          <p:nvCxnSpPr>
            <p:cNvPr id="78" name="Connettore 2 77"/>
            <p:cNvCxnSpPr/>
            <p:nvPr/>
          </p:nvCxnSpPr>
          <p:spPr>
            <a:xfrm flipV="1">
              <a:off x="8267400" y="4833910"/>
              <a:ext cx="721852" cy="2"/>
            </a:xfrm>
            <a:prstGeom prst="straightConnector1">
              <a:avLst/>
            </a:prstGeom>
            <a:ln w="19050">
              <a:solidFill>
                <a:schemeClr val="tx1"/>
              </a:solidFill>
              <a:prstDash val="sysDash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9" name="Triangolo isoscele 78"/>
            <p:cNvSpPr/>
            <p:nvPr/>
          </p:nvSpPr>
          <p:spPr>
            <a:xfrm rot="5400000" flipH="1" flipV="1">
              <a:off x="8167744" y="4772454"/>
              <a:ext cx="142583" cy="122916"/>
            </a:xfrm>
            <a:prstGeom prst="triangle">
              <a:avLst/>
            </a:prstGeom>
            <a:solidFill>
              <a:schemeClr val="bg1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</p:grpSp>
      <p:grpSp>
        <p:nvGrpSpPr>
          <p:cNvPr id="83" name="Gruppo 82"/>
          <p:cNvGrpSpPr/>
          <p:nvPr/>
        </p:nvGrpSpPr>
        <p:grpSpPr>
          <a:xfrm>
            <a:off x="2145379" y="4672275"/>
            <a:ext cx="1926426" cy="1214172"/>
            <a:chOff x="402476" y="5184618"/>
            <a:chExt cx="1926426" cy="1214172"/>
          </a:xfrm>
        </p:grpSpPr>
        <p:sp>
          <p:nvSpPr>
            <p:cNvPr id="84" name="Ovale 83"/>
            <p:cNvSpPr/>
            <p:nvPr/>
          </p:nvSpPr>
          <p:spPr>
            <a:xfrm>
              <a:off x="667957" y="5332857"/>
              <a:ext cx="1660945" cy="1065933"/>
            </a:xfrm>
            <a:prstGeom prst="ellipse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it-IT" sz="1200" dirty="0" smtClean="0">
                  <a:solidFill>
                    <a:schemeClr val="tx1"/>
                  </a:solidFill>
                  <a:latin typeface="Century Schoolbook" panose="02040604050505020304" pitchFamily="18" charset="0"/>
                </a:rPr>
                <a:t>Thermometer</a:t>
              </a:r>
              <a:endParaRPr lang="it-IT" sz="1200" dirty="0">
                <a:solidFill>
                  <a:schemeClr val="tx1"/>
                </a:solidFill>
                <a:latin typeface="Century Schoolbook" panose="02040604050505020304" pitchFamily="18" charset="0"/>
              </a:endParaRPr>
            </a:p>
            <a:p>
              <a:pPr algn="ctr"/>
              <a:r>
                <a:rPr lang="it-IT" sz="1200" dirty="0" smtClean="0">
                  <a:solidFill>
                    <a:schemeClr val="tx1"/>
                  </a:solidFill>
                  <a:latin typeface="Century Schoolbook" panose="02040604050505020304" pitchFamily="18" charset="0"/>
                </a:rPr>
                <a:t>Actor</a:t>
              </a:r>
              <a:endParaRPr lang="it-IT" sz="1200" dirty="0">
                <a:solidFill>
                  <a:schemeClr val="tx1"/>
                </a:solidFill>
                <a:latin typeface="Century Schoolbook" panose="02040604050505020304" pitchFamily="18" charset="0"/>
              </a:endParaRPr>
            </a:p>
          </p:txBody>
        </p:sp>
        <p:sp>
          <p:nvSpPr>
            <p:cNvPr id="85" name="Triangolo isoscele 84"/>
            <p:cNvSpPr/>
            <p:nvPr/>
          </p:nvSpPr>
          <p:spPr>
            <a:xfrm rot="16200000">
              <a:off x="1350190" y="5205064"/>
              <a:ext cx="296478" cy="255585"/>
            </a:xfrm>
            <a:prstGeom prst="triangle">
              <a:avLst/>
            </a:prstGeom>
            <a:solidFill>
              <a:srgbClr val="FF0000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86" name="Rettangolo 85"/>
            <p:cNvSpPr/>
            <p:nvPr/>
          </p:nvSpPr>
          <p:spPr>
            <a:xfrm>
              <a:off x="402476" y="5739696"/>
              <a:ext cx="530961" cy="252254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</p:grpSp>
      <p:cxnSp>
        <p:nvCxnSpPr>
          <p:cNvPr id="87" name="Connettore 2 86"/>
          <p:cNvCxnSpPr/>
          <p:nvPr/>
        </p:nvCxnSpPr>
        <p:spPr>
          <a:xfrm flipV="1">
            <a:off x="7204076" y="3491065"/>
            <a:ext cx="7389" cy="1327761"/>
          </a:xfrm>
          <a:prstGeom prst="straightConnector1">
            <a:avLst/>
          </a:prstGeom>
          <a:ln w="19050">
            <a:solidFill>
              <a:schemeClr val="tx1"/>
            </a:solidFill>
            <a:prstDash val="sys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5" name="CasellaDiTesto 94"/>
          <p:cNvSpPr txBox="1"/>
          <p:nvPr/>
        </p:nvSpPr>
        <p:spPr>
          <a:xfrm>
            <a:off x="7450157" y="5415676"/>
            <a:ext cx="82747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200" dirty="0" smtClean="0">
                <a:solidFill>
                  <a:schemeClr val="accent1">
                    <a:lumMod val="75000"/>
                  </a:schemeClr>
                </a:solidFill>
                <a:latin typeface="Bookman Old Style" panose="02050604050505020204" pitchFamily="18" charset="0"/>
              </a:rPr>
              <a:t>start fan</a:t>
            </a:r>
          </a:p>
          <a:p>
            <a:r>
              <a:rPr lang="it-IT" sz="1200" dirty="0" smtClean="0">
                <a:solidFill>
                  <a:schemeClr val="accent1">
                    <a:lumMod val="75000"/>
                  </a:schemeClr>
                </a:solidFill>
                <a:latin typeface="Bookman Old Style" panose="02050604050505020204" pitchFamily="18" charset="0"/>
              </a:rPr>
              <a:t>stop fan</a:t>
            </a:r>
            <a:endParaRPr lang="it-IT" sz="1200" dirty="0">
              <a:solidFill>
                <a:schemeClr val="accent1">
                  <a:lumMod val="75000"/>
                </a:schemeClr>
              </a:solidFill>
              <a:latin typeface="Bookman Old Style" panose="02050604050505020204" pitchFamily="18" charset="0"/>
            </a:endParaRPr>
          </a:p>
        </p:txBody>
      </p:sp>
      <p:sp>
        <p:nvSpPr>
          <p:cNvPr id="96" name="CasellaDiTesto 95"/>
          <p:cNvSpPr txBox="1"/>
          <p:nvPr/>
        </p:nvSpPr>
        <p:spPr>
          <a:xfrm>
            <a:off x="7358613" y="2618259"/>
            <a:ext cx="142859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200" dirty="0" smtClean="0">
                <a:solidFill>
                  <a:schemeClr val="accent1">
                    <a:lumMod val="75000"/>
                  </a:schemeClr>
                </a:solidFill>
                <a:latin typeface="Bookman Old Style" panose="02050604050505020204" pitchFamily="18" charset="0"/>
              </a:rPr>
              <a:t>goto: &lt;location&gt;</a:t>
            </a:r>
            <a:endParaRPr lang="it-IT" sz="1200" dirty="0">
              <a:solidFill>
                <a:schemeClr val="accent1">
                  <a:lumMod val="75000"/>
                </a:schemeClr>
              </a:solidFill>
              <a:latin typeface="Bookman Old Style" panose="02050604050505020204" pitchFamily="18" charset="0"/>
            </a:endParaRPr>
          </a:p>
        </p:txBody>
      </p:sp>
      <p:sp>
        <p:nvSpPr>
          <p:cNvPr id="97" name="CasellaDiTesto 96"/>
          <p:cNvSpPr txBox="1"/>
          <p:nvPr/>
        </p:nvSpPr>
        <p:spPr>
          <a:xfrm>
            <a:off x="3809772" y="1819103"/>
            <a:ext cx="176362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200" dirty="0" smtClean="0">
                <a:solidFill>
                  <a:schemeClr val="accent1">
                    <a:lumMod val="75000"/>
                  </a:schemeClr>
                </a:solidFill>
                <a:latin typeface="Bookman Old Style" panose="02050604050505020204" pitchFamily="18" charset="0"/>
              </a:rPr>
              <a:t>INDOOR-area free</a:t>
            </a:r>
          </a:p>
          <a:p>
            <a:r>
              <a:rPr lang="it-IT" sz="1200" dirty="0" smtClean="0">
                <a:solidFill>
                  <a:schemeClr val="accent1">
                    <a:lumMod val="75000"/>
                  </a:schemeClr>
                </a:solidFill>
                <a:latin typeface="Bookman Old Style" panose="02050604050505020204" pitchFamily="18" charset="0"/>
              </a:rPr>
              <a:t>INDOOR-area occup</a:t>
            </a:r>
            <a:r>
              <a:rPr lang="it-IT" sz="1200" dirty="0">
                <a:solidFill>
                  <a:schemeClr val="accent1">
                    <a:lumMod val="75000"/>
                  </a:schemeClr>
                </a:solidFill>
                <a:latin typeface="Bookman Old Style" panose="02050604050505020204" pitchFamily="18" charset="0"/>
              </a:rPr>
              <a:t>.</a:t>
            </a:r>
          </a:p>
        </p:txBody>
      </p:sp>
      <p:sp>
        <p:nvSpPr>
          <p:cNvPr id="98" name="CasellaDiTesto 97"/>
          <p:cNvSpPr txBox="1"/>
          <p:nvPr/>
        </p:nvSpPr>
        <p:spPr>
          <a:xfrm>
            <a:off x="4046801" y="3867701"/>
            <a:ext cx="193674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200" dirty="0" smtClean="0">
                <a:solidFill>
                  <a:schemeClr val="accent1">
                    <a:lumMod val="75000"/>
                  </a:schemeClr>
                </a:solidFill>
                <a:latin typeface="Bookman Old Style" panose="02050604050505020204" pitchFamily="18" charset="0"/>
              </a:rPr>
              <a:t>OUTDOOR-area free</a:t>
            </a:r>
          </a:p>
          <a:p>
            <a:r>
              <a:rPr lang="it-IT" sz="1200" dirty="0" smtClean="0">
                <a:solidFill>
                  <a:schemeClr val="accent1">
                    <a:lumMod val="75000"/>
                  </a:schemeClr>
                </a:solidFill>
                <a:latin typeface="Bookman Old Style" panose="02050604050505020204" pitchFamily="18" charset="0"/>
              </a:rPr>
              <a:t>OUTDOOR-area occup.</a:t>
            </a:r>
            <a:endParaRPr lang="it-IT" sz="1200" dirty="0">
              <a:solidFill>
                <a:schemeClr val="accent1">
                  <a:lumMod val="75000"/>
                </a:schemeClr>
              </a:solidFill>
              <a:latin typeface="Bookman Old Style" panose="02050604050505020204" pitchFamily="18" charset="0"/>
            </a:endParaRPr>
          </a:p>
        </p:txBody>
      </p:sp>
      <p:sp>
        <p:nvSpPr>
          <p:cNvPr id="99" name="CasellaDiTesto 98"/>
          <p:cNvSpPr txBox="1"/>
          <p:nvPr/>
        </p:nvSpPr>
        <p:spPr>
          <a:xfrm>
            <a:off x="4042513" y="5600342"/>
            <a:ext cx="179568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200" dirty="0" smtClean="0">
                <a:solidFill>
                  <a:schemeClr val="accent1">
                    <a:lumMod val="75000"/>
                  </a:schemeClr>
                </a:solidFill>
                <a:latin typeface="Bookman Old Style" panose="02050604050505020204" pitchFamily="18" charset="0"/>
              </a:rPr>
              <a:t>temperature: &lt;value&gt;</a:t>
            </a:r>
            <a:endParaRPr lang="it-IT" sz="1200" dirty="0">
              <a:solidFill>
                <a:schemeClr val="accent1">
                  <a:lumMod val="75000"/>
                </a:schemeClr>
              </a:solidFill>
              <a:latin typeface="Bookman Old Style" panose="02050604050505020204" pitchFamily="18" charset="0"/>
            </a:endParaRPr>
          </a:p>
        </p:txBody>
      </p:sp>
      <p:sp>
        <p:nvSpPr>
          <p:cNvPr id="105" name="CasellaDiTesto 104"/>
          <p:cNvSpPr txBox="1"/>
          <p:nvPr/>
        </p:nvSpPr>
        <p:spPr>
          <a:xfrm>
            <a:off x="7199517" y="3907592"/>
            <a:ext cx="105509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200" dirty="0" smtClean="0">
                <a:solidFill>
                  <a:schemeClr val="accent1">
                    <a:lumMod val="75000"/>
                  </a:schemeClr>
                </a:solidFill>
                <a:latin typeface="Bookman Old Style" panose="02050604050505020204" pitchFamily="18" charset="0"/>
              </a:rPr>
              <a:t>start trolley</a:t>
            </a:r>
          </a:p>
          <a:p>
            <a:r>
              <a:rPr lang="it-IT" sz="1200" dirty="0" smtClean="0">
                <a:solidFill>
                  <a:schemeClr val="accent1">
                    <a:lumMod val="75000"/>
                  </a:schemeClr>
                </a:solidFill>
                <a:latin typeface="Bookman Old Style" panose="02050604050505020204" pitchFamily="18" charset="0"/>
              </a:rPr>
              <a:t>stop trolley</a:t>
            </a:r>
            <a:endParaRPr lang="it-IT" sz="1200" dirty="0">
              <a:solidFill>
                <a:schemeClr val="accent1">
                  <a:lumMod val="75000"/>
                </a:schemeClr>
              </a:solidFill>
              <a:latin typeface="Bookman Old Style" panose="02050604050505020204" pitchFamily="18" charset="0"/>
            </a:endParaRPr>
          </a:p>
        </p:txBody>
      </p:sp>
      <p:cxnSp>
        <p:nvCxnSpPr>
          <p:cNvPr id="109" name="Connettore 2 108"/>
          <p:cNvCxnSpPr/>
          <p:nvPr/>
        </p:nvCxnSpPr>
        <p:spPr>
          <a:xfrm>
            <a:off x="6124982" y="3644021"/>
            <a:ext cx="5087" cy="1057737"/>
          </a:xfrm>
          <a:prstGeom prst="straightConnector1">
            <a:avLst/>
          </a:prstGeom>
          <a:ln w="19050">
            <a:solidFill>
              <a:schemeClr val="tx1"/>
            </a:solidFill>
            <a:prstDash val="sys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5" name="CasellaDiTesto 114"/>
          <p:cNvSpPr txBox="1"/>
          <p:nvPr/>
        </p:nvSpPr>
        <p:spPr>
          <a:xfrm>
            <a:off x="6133394" y="3897460"/>
            <a:ext cx="84029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200" dirty="0" smtClean="0">
                <a:solidFill>
                  <a:schemeClr val="accent1">
                    <a:lumMod val="75000"/>
                  </a:schemeClr>
                </a:solidFill>
                <a:latin typeface="Bookman Old Style" panose="02050604050505020204" pitchFamily="18" charset="0"/>
              </a:rPr>
              <a:t>parking:</a:t>
            </a:r>
          </a:p>
          <a:p>
            <a:r>
              <a:rPr lang="it-IT" sz="1200" dirty="0" smtClean="0">
                <a:solidFill>
                  <a:schemeClr val="accent1">
                    <a:lumMod val="75000"/>
                  </a:schemeClr>
                </a:solidFill>
                <a:latin typeface="Bookman Old Style" panose="02050604050505020204" pitchFamily="18" charset="0"/>
              </a:rPr>
              <a:t>&lt;status&gt;</a:t>
            </a:r>
            <a:endParaRPr lang="it-IT" sz="1200" dirty="0">
              <a:solidFill>
                <a:schemeClr val="accent1">
                  <a:lumMod val="75000"/>
                </a:schemeClr>
              </a:solidFill>
              <a:latin typeface="Bookman Old Style" panose="02050604050505020204" pitchFamily="18" charset="0"/>
            </a:endParaRPr>
          </a:p>
        </p:txBody>
      </p:sp>
      <p:grpSp>
        <p:nvGrpSpPr>
          <p:cNvPr id="118" name="Gruppo 117"/>
          <p:cNvGrpSpPr/>
          <p:nvPr/>
        </p:nvGrpSpPr>
        <p:grpSpPr>
          <a:xfrm rot="5400000">
            <a:off x="6700574" y="1939950"/>
            <a:ext cx="844768" cy="342073"/>
            <a:chOff x="8144484" y="4563130"/>
            <a:chExt cx="844768" cy="342073"/>
          </a:xfrm>
        </p:grpSpPr>
        <p:cxnSp>
          <p:nvCxnSpPr>
            <p:cNvPr id="119" name="Connettore 2 118"/>
            <p:cNvCxnSpPr/>
            <p:nvPr/>
          </p:nvCxnSpPr>
          <p:spPr>
            <a:xfrm flipV="1">
              <a:off x="8144484" y="4634422"/>
              <a:ext cx="721852" cy="2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0" name="Triangolo isoscele 119"/>
            <p:cNvSpPr/>
            <p:nvPr/>
          </p:nvSpPr>
          <p:spPr>
            <a:xfrm rot="16200000" flipV="1">
              <a:off x="8856502" y="4572964"/>
              <a:ext cx="142583" cy="122916"/>
            </a:xfrm>
            <a:prstGeom prst="triangle">
              <a:avLst/>
            </a:prstGeom>
            <a:solidFill>
              <a:schemeClr val="bg1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cxnSp>
          <p:nvCxnSpPr>
            <p:cNvPr id="121" name="Connettore 2 120"/>
            <p:cNvCxnSpPr/>
            <p:nvPr/>
          </p:nvCxnSpPr>
          <p:spPr>
            <a:xfrm flipV="1">
              <a:off x="8267400" y="4833910"/>
              <a:ext cx="721852" cy="2"/>
            </a:xfrm>
            <a:prstGeom prst="straightConnector1">
              <a:avLst/>
            </a:prstGeom>
            <a:ln w="19050">
              <a:solidFill>
                <a:schemeClr val="tx1"/>
              </a:solidFill>
              <a:prstDash val="sysDash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2" name="Triangolo isoscele 121"/>
            <p:cNvSpPr/>
            <p:nvPr/>
          </p:nvSpPr>
          <p:spPr>
            <a:xfrm rot="5400000" flipH="1" flipV="1">
              <a:off x="8167744" y="4772454"/>
              <a:ext cx="142583" cy="122916"/>
            </a:xfrm>
            <a:prstGeom prst="triangle">
              <a:avLst/>
            </a:prstGeom>
            <a:solidFill>
              <a:schemeClr val="bg1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</p:grpSp>
      <p:sp>
        <p:nvSpPr>
          <p:cNvPr id="123" name="CasellaDiTesto 122"/>
          <p:cNvSpPr txBox="1"/>
          <p:nvPr/>
        </p:nvSpPr>
        <p:spPr>
          <a:xfrm>
            <a:off x="7190609" y="1880153"/>
            <a:ext cx="115929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200" dirty="0" smtClean="0">
                <a:solidFill>
                  <a:schemeClr val="accent1">
                    <a:lumMod val="75000"/>
                  </a:schemeClr>
                </a:solidFill>
                <a:latin typeface="Bookman Old Style" panose="02050604050505020204" pitchFamily="18" charset="0"/>
              </a:rPr>
              <a:t>&lt;SLOTNUM&gt;</a:t>
            </a:r>
          </a:p>
          <a:p>
            <a:r>
              <a:rPr lang="it-IT" sz="1200" dirty="0" smtClean="0">
                <a:solidFill>
                  <a:schemeClr val="accent1">
                    <a:lumMod val="75000"/>
                  </a:schemeClr>
                </a:solidFill>
                <a:latin typeface="Bookman Old Style" panose="02050604050505020204" pitchFamily="18" charset="0"/>
              </a:rPr>
              <a:t>&lt;TOKENID&gt;</a:t>
            </a:r>
            <a:endParaRPr lang="it-IT" sz="1200" dirty="0">
              <a:solidFill>
                <a:schemeClr val="accent1">
                  <a:lumMod val="75000"/>
                </a:schemeClr>
              </a:solidFill>
              <a:latin typeface="Bookman Old Style" panose="02050604050505020204" pitchFamily="18" charset="0"/>
            </a:endParaRPr>
          </a:p>
        </p:txBody>
      </p:sp>
      <p:cxnSp>
        <p:nvCxnSpPr>
          <p:cNvPr id="124" name="Connettore 2 123"/>
          <p:cNvCxnSpPr/>
          <p:nvPr/>
        </p:nvCxnSpPr>
        <p:spPr>
          <a:xfrm flipH="1">
            <a:off x="5902286" y="1679458"/>
            <a:ext cx="3490" cy="926208"/>
          </a:xfrm>
          <a:prstGeom prst="straightConnector1">
            <a:avLst/>
          </a:prstGeom>
          <a:ln w="19050">
            <a:solidFill>
              <a:schemeClr val="tx1"/>
            </a:solidFill>
            <a:prstDash val="sys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5" name="CasellaDiTesto 124"/>
          <p:cNvSpPr txBox="1"/>
          <p:nvPr/>
        </p:nvSpPr>
        <p:spPr>
          <a:xfrm>
            <a:off x="5896015" y="1982265"/>
            <a:ext cx="110158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200" dirty="0" smtClean="0">
                <a:solidFill>
                  <a:schemeClr val="accent1">
                    <a:lumMod val="75000"/>
                  </a:schemeClr>
                </a:solidFill>
                <a:latin typeface="Bookman Old Style" panose="02050604050505020204" pitchFamily="18" charset="0"/>
              </a:rPr>
              <a:t>&lt;TOKENID&gt;</a:t>
            </a:r>
            <a:endParaRPr lang="it-IT" sz="1200" dirty="0">
              <a:solidFill>
                <a:schemeClr val="accent1">
                  <a:lumMod val="75000"/>
                </a:schemeClr>
              </a:solidFill>
              <a:latin typeface="Bookman Old Style" panose="02050604050505020204" pitchFamily="18" charset="0"/>
            </a:endParaRPr>
          </a:p>
        </p:txBody>
      </p:sp>
      <p:grpSp>
        <p:nvGrpSpPr>
          <p:cNvPr id="60" name="Gruppo 59"/>
          <p:cNvGrpSpPr/>
          <p:nvPr/>
        </p:nvGrpSpPr>
        <p:grpSpPr>
          <a:xfrm>
            <a:off x="8479482" y="2443639"/>
            <a:ext cx="1926426" cy="1214172"/>
            <a:chOff x="402476" y="5184618"/>
            <a:chExt cx="1926426" cy="1214172"/>
          </a:xfrm>
        </p:grpSpPr>
        <p:sp>
          <p:nvSpPr>
            <p:cNvPr id="62" name="Ovale 61"/>
            <p:cNvSpPr/>
            <p:nvPr/>
          </p:nvSpPr>
          <p:spPr>
            <a:xfrm>
              <a:off x="667957" y="5332857"/>
              <a:ext cx="1660945" cy="1065933"/>
            </a:xfrm>
            <a:prstGeom prst="ellipse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it-IT" sz="1200" dirty="0" smtClean="0">
                  <a:solidFill>
                    <a:schemeClr val="tx1"/>
                  </a:solidFill>
                  <a:latin typeface="Century Schoolbook" panose="02040604050505020304" pitchFamily="18" charset="0"/>
                </a:rPr>
                <a:t>Trolley</a:t>
              </a:r>
            </a:p>
            <a:p>
              <a:pPr algn="ctr"/>
              <a:r>
                <a:rPr lang="it-IT" sz="1200" dirty="0" smtClean="0">
                  <a:solidFill>
                    <a:schemeClr val="tx1"/>
                  </a:solidFill>
                  <a:latin typeface="Century Schoolbook" panose="02040604050505020304" pitchFamily="18" charset="0"/>
                </a:rPr>
                <a:t>Actor</a:t>
              </a:r>
              <a:endParaRPr lang="it-IT" sz="1400" i="1" dirty="0">
                <a:solidFill>
                  <a:schemeClr val="tx1"/>
                </a:solidFill>
                <a:latin typeface="Century Schoolbook" panose="02040604050505020304" pitchFamily="18" charset="0"/>
              </a:endParaRPr>
            </a:p>
          </p:txBody>
        </p:sp>
        <p:sp>
          <p:nvSpPr>
            <p:cNvPr id="63" name="Triangolo isoscele 62"/>
            <p:cNvSpPr/>
            <p:nvPr/>
          </p:nvSpPr>
          <p:spPr>
            <a:xfrm rot="16200000">
              <a:off x="1350190" y="5205064"/>
              <a:ext cx="296478" cy="255585"/>
            </a:xfrm>
            <a:prstGeom prst="triangle">
              <a:avLst/>
            </a:prstGeom>
            <a:solidFill>
              <a:srgbClr val="FF0000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64" name="Rettangolo 63"/>
            <p:cNvSpPr/>
            <p:nvPr/>
          </p:nvSpPr>
          <p:spPr>
            <a:xfrm>
              <a:off x="402476" y="5739696"/>
              <a:ext cx="530961" cy="252254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</p:grpSp>
    </p:spTree>
    <p:extLst>
      <p:ext uri="{BB962C8B-B14F-4D97-AF65-F5344CB8AC3E}">
        <p14:creationId xmlns:p14="http://schemas.microsoft.com/office/powerpoint/2010/main" val="318691665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uppo 7"/>
          <p:cNvGrpSpPr/>
          <p:nvPr/>
        </p:nvGrpSpPr>
        <p:grpSpPr>
          <a:xfrm>
            <a:off x="5573236" y="4611480"/>
            <a:ext cx="1926426" cy="1214172"/>
            <a:chOff x="402476" y="5184618"/>
            <a:chExt cx="1926426" cy="1214172"/>
          </a:xfrm>
        </p:grpSpPr>
        <p:sp>
          <p:nvSpPr>
            <p:cNvPr id="9" name="Ovale 8"/>
            <p:cNvSpPr/>
            <p:nvPr/>
          </p:nvSpPr>
          <p:spPr>
            <a:xfrm>
              <a:off x="667957" y="5332857"/>
              <a:ext cx="1660945" cy="1065933"/>
            </a:xfrm>
            <a:prstGeom prst="ellipse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it-IT" sz="1200" dirty="0" smtClean="0">
                  <a:solidFill>
                    <a:schemeClr val="tx1"/>
                  </a:solidFill>
                  <a:latin typeface="Century Schoolbook" panose="02040604050505020304" pitchFamily="18" charset="0"/>
                </a:rPr>
                <a:t>Temperature Sentinel Actor</a:t>
              </a:r>
            </a:p>
          </p:txBody>
        </p:sp>
        <p:sp>
          <p:nvSpPr>
            <p:cNvPr id="10" name="Triangolo isoscele 9"/>
            <p:cNvSpPr/>
            <p:nvPr/>
          </p:nvSpPr>
          <p:spPr>
            <a:xfrm rot="16200000">
              <a:off x="1350190" y="5205064"/>
              <a:ext cx="296478" cy="255585"/>
            </a:xfrm>
            <a:prstGeom prst="triangle">
              <a:avLst/>
            </a:prstGeom>
            <a:solidFill>
              <a:srgbClr val="FF0000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11" name="Rettangolo 10"/>
            <p:cNvSpPr/>
            <p:nvPr/>
          </p:nvSpPr>
          <p:spPr>
            <a:xfrm>
              <a:off x="402476" y="5739696"/>
              <a:ext cx="530961" cy="252254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</p:grpSp>
      <p:grpSp>
        <p:nvGrpSpPr>
          <p:cNvPr id="15" name="Gruppo 14"/>
          <p:cNvGrpSpPr/>
          <p:nvPr/>
        </p:nvGrpSpPr>
        <p:grpSpPr>
          <a:xfrm>
            <a:off x="5573236" y="3245569"/>
            <a:ext cx="1926426" cy="1214172"/>
            <a:chOff x="402476" y="5184618"/>
            <a:chExt cx="1926426" cy="1214172"/>
          </a:xfrm>
        </p:grpSpPr>
        <p:sp>
          <p:nvSpPr>
            <p:cNvPr id="16" name="Ovale 15"/>
            <p:cNvSpPr/>
            <p:nvPr/>
          </p:nvSpPr>
          <p:spPr>
            <a:xfrm>
              <a:off x="667957" y="5332857"/>
              <a:ext cx="1660945" cy="1065933"/>
            </a:xfrm>
            <a:prstGeom prst="ellipse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it-IT" sz="1200" dirty="0" smtClean="0">
                  <a:solidFill>
                    <a:schemeClr val="tx1"/>
                  </a:solidFill>
                  <a:latin typeface="Century Schoolbook" panose="02040604050505020304" pitchFamily="18" charset="0"/>
                </a:rPr>
                <a:t>Outdoor</a:t>
              </a:r>
              <a:r>
                <a:rPr lang="it-IT" sz="1200" dirty="0">
                  <a:solidFill>
                    <a:schemeClr val="tx1"/>
                  </a:solidFill>
                  <a:latin typeface="Century Schoolbook" panose="02040604050505020304" pitchFamily="18" charset="0"/>
                </a:rPr>
                <a:t> </a:t>
              </a:r>
              <a:r>
                <a:rPr lang="it-IT" sz="1200" dirty="0" smtClean="0">
                  <a:solidFill>
                    <a:schemeClr val="tx1"/>
                  </a:solidFill>
                  <a:latin typeface="Century Schoolbook" panose="02040604050505020304" pitchFamily="18" charset="0"/>
                </a:rPr>
                <a:t>Sentinel Actor</a:t>
              </a:r>
            </a:p>
          </p:txBody>
        </p:sp>
        <p:sp>
          <p:nvSpPr>
            <p:cNvPr id="17" name="Triangolo isoscele 16"/>
            <p:cNvSpPr/>
            <p:nvPr/>
          </p:nvSpPr>
          <p:spPr>
            <a:xfrm rot="16200000">
              <a:off x="1350190" y="5205064"/>
              <a:ext cx="296478" cy="255585"/>
            </a:xfrm>
            <a:prstGeom prst="triangle">
              <a:avLst/>
            </a:prstGeom>
            <a:solidFill>
              <a:srgbClr val="FF0000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18" name="Rettangolo 17"/>
            <p:cNvSpPr/>
            <p:nvPr/>
          </p:nvSpPr>
          <p:spPr>
            <a:xfrm>
              <a:off x="402476" y="5739696"/>
              <a:ext cx="530961" cy="252254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</p:grpSp>
      <p:grpSp>
        <p:nvGrpSpPr>
          <p:cNvPr id="19" name="Gruppo 18"/>
          <p:cNvGrpSpPr/>
          <p:nvPr/>
        </p:nvGrpSpPr>
        <p:grpSpPr>
          <a:xfrm>
            <a:off x="5578183" y="955372"/>
            <a:ext cx="1926426" cy="1214172"/>
            <a:chOff x="402476" y="5184618"/>
            <a:chExt cx="1926426" cy="1214172"/>
          </a:xfrm>
        </p:grpSpPr>
        <p:sp>
          <p:nvSpPr>
            <p:cNvPr id="20" name="Ovale 19"/>
            <p:cNvSpPr/>
            <p:nvPr/>
          </p:nvSpPr>
          <p:spPr>
            <a:xfrm>
              <a:off x="667957" y="5332857"/>
              <a:ext cx="1660945" cy="1065933"/>
            </a:xfrm>
            <a:prstGeom prst="ellipse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it-IT" sz="1200" dirty="0" smtClean="0">
                  <a:solidFill>
                    <a:schemeClr val="tx1"/>
                  </a:solidFill>
                  <a:latin typeface="Century Schoolbook" panose="02040604050505020304" pitchFamily="18" charset="0"/>
                </a:rPr>
                <a:t>Timer</a:t>
              </a:r>
            </a:p>
            <a:p>
              <a:pPr algn="ctr"/>
              <a:r>
                <a:rPr lang="it-IT" sz="1200" dirty="0" smtClean="0">
                  <a:solidFill>
                    <a:schemeClr val="tx1"/>
                  </a:solidFill>
                  <a:latin typeface="Century Schoolbook" panose="02040604050505020304" pitchFamily="18" charset="0"/>
                </a:rPr>
                <a:t>Actor</a:t>
              </a:r>
            </a:p>
          </p:txBody>
        </p:sp>
        <p:sp>
          <p:nvSpPr>
            <p:cNvPr id="21" name="Triangolo isoscele 20"/>
            <p:cNvSpPr/>
            <p:nvPr/>
          </p:nvSpPr>
          <p:spPr>
            <a:xfrm rot="16200000">
              <a:off x="1350190" y="5205064"/>
              <a:ext cx="296478" cy="255585"/>
            </a:xfrm>
            <a:prstGeom prst="triangle">
              <a:avLst/>
            </a:prstGeom>
            <a:solidFill>
              <a:srgbClr val="FF0000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22" name="Rettangolo 21"/>
            <p:cNvSpPr/>
            <p:nvPr/>
          </p:nvSpPr>
          <p:spPr>
            <a:xfrm>
              <a:off x="402476" y="5739696"/>
              <a:ext cx="530961" cy="252254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</p:grpSp>
      <p:cxnSp>
        <p:nvCxnSpPr>
          <p:cNvPr id="23" name="Connettore 2 22"/>
          <p:cNvCxnSpPr/>
          <p:nvPr/>
        </p:nvCxnSpPr>
        <p:spPr>
          <a:xfrm flipH="1" flipV="1">
            <a:off x="6440423" y="2285224"/>
            <a:ext cx="1" cy="1011285"/>
          </a:xfrm>
          <a:prstGeom prst="straightConnector1">
            <a:avLst/>
          </a:prstGeom>
          <a:ln w="19050">
            <a:solidFill>
              <a:schemeClr val="tx1"/>
            </a:solidFill>
            <a:prstDash val="sys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Figura a mano libera 23"/>
          <p:cNvSpPr/>
          <p:nvPr/>
        </p:nvSpPr>
        <p:spPr>
          <a:xfrm rot="5400000">
            <a:off x="6482009" y="2483825"/>
            <a:ext cx="990600" cy="638334"/>
          </a:xfrm>
          <a:custGeom>
            <a:avLst/>
            <a:gdLst>
              <a:gd name="connsiteX0" fmla="*/ 0 w 990600"/>
              <a:gd name="connsiteY0" fmla="*/ 439954 h 638334"/>
              <a:gd name="connsiteX1" fmla="*/ 314325 w 990600"/>
              <a:gd name="connsiteY1" fmla="*/ 439954 h 638334"/>
              <a:gd name="connsiteX2" fmla="*/ 390525 w 990600"/>
              <a:gd name="connsiteY2" fmla="*/ 1804 h 638334"/>
              <a:gd name="connsiteX3" fmla="*/ 571500 w 990600"/>
              <a:gd name="connsiteY3" fmla="*/ 630454 h 638334"/>
              <a:gd name="connsiteX4" fmla="*/ 685800 w 990600"/>
              <a:gd name="connsiteY4" fmla="*/ 354229 h 638334"/>
              <a:gd name="connsiteX5" fmla="*/ 990600 w 990600"/>
              <a:gd name="connsiteY5" fmla="*/ 344704 h 6383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990600" h="638334">
                <a:moveTo>
                  <a:pt x="0" y="439954"/>
                </a:moveTo>
                <a:cubicBezTo>
                  <a:pt x="124619" y="476466"/>
                  <a:pt x="249238" y="512979"/>
                  <a:pt x="314325" y="439954"/>
                </a:cubicBezTo>
                <a:cubicBezTo>
                  <a:pt x="379412" y="366929"/>
                  <a:pt x="347663" y="-29946"/>
                  <a:pt x="390525" y="1804"/>
                </a:cubicBezTo>
                <a:cubicBezTo>
                  <a:pt x="433387" y="33554"/>
                  <a:pt x="522288" y="571717"/>
                  <a:pt x="571500" y="630454"/>
                </a:cubicBezTo>
                <a:cubicBezTo>
                  <a:pt x="620713" y="689192"/>
                  <a:pt x="615950" y="401854"/>
                  <a:pt x="685800" y="354229"/>
                </a:cubicBezTo>
                <a:cubicBezTo>
                  <a:pt x="755650" y="306604"/>
                  <a:pt x="873125" y="325654"/>
                  <a:pt x="990600" y="344704"/>
                </a:cubicBezTo>
              </a:path>
            </a:pathLst>
          </a:custGeom>
          <a:noFill/>
          <a:ln w="15875">
            <a:solidFill>
              <a:schemeClr val="tx1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grpSp>
        <p:nvGrpSpPr>
          <p:cNvPr id="25" name="Gruppo 24"/>
          <p:cNvGrpSpPr/>
          <p:nvPr/>
        </p:nvGrpSpPr>
        <p:grpSpPr>
          <a:xfrm>
            <a:off x="2462505" y="3323048"/>
            <a:ext cx="1926426" cy="1214172"/>
            <a:chOff x="402476" y="3280190"/>
            <a:chExt cx="1926426" cy="1214172"/>
          </a:xfrm>
        </p:grpSpPr>
        <p:sp>
          <p:nvSpPr>
            <p:cNvPr id="26" name="Ovale 25"/>
            <p:cNvSpPr/>
            <p:nvPr/>
          </p:nvSpPr>
          <p:spPr>
            <a:xfrm>
              <a:off x="667957" y="3428429"/>
              <a:ext cx="1660945" cy="1065933"/>
            </a:xfrm>
            <a:prstGeom prst="ellipse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it-IT" sz="1200" dirty="0" smtClean="0">
                  <a:solidFill>
                    <a:schemeClr val="tx1"/>
                  </a:solidFill>
                  <a:latin typeface="Century Schoolbook" panose="02040604050505020304" pitchFamily="18" charset="0"/>
                </a:rPr>
                <a:t>Sonar</a:t>
              </a:r>
              <a:endParaRPr lang="it-IT" sz="1200" dirty="0">
                <a:solidFill>
                  <a:schemeClr val="tx1"/>
                </a:solidFill>
                <a:latin typeface="Century Schoolbook" panose="02040604050505020304" pitchFamily="18" charset="0"/>
              </a:endParaRPr>
            </a:p>
            <a:p>
              <a:pPr algn="ctr"/>
              <a:r>
                <a:rPr lang="it-IT" sz="1200" dirty="0" smtClean="0">
                  <a:solidFill>
                    <a:schemeClr val="tx1"/>
                  </a:solidFill>
                  <a:latin typeface="Century Schoolbook" panose="02040604050505020304" pitchFamily="18" charset="0"/>
                </a:rPr>
                <a:t>Actor</a:t>
              </a:r>
              <a:endParaRPr lang="it-IT" sz="1200" dirty="0">
                <a:solidFill>
                  <a:schemeClr val="tx1"/>
                </a:solidFill>
                <a:latin typeface="Century Schoolbook" panose="02040604050505020304" pitchFamily="18" charset="0"/>
              </a:endParaRPr>
            </a:p>
          </p:txBody>
        </p:sp>
        <p:sp>
          <p:nvSpPr>
            <p:cNvPr id="27" name="Triangolo isoscele 26"/>
            <p:cNvSpPr/>
            <p:nvPr/>
          </p:nvSpPr>
          <p:spPr>
            <a:xfrm rot="16200000">
              <a:off x="1350190" y="3300636"/>
              <a:ext cx="296478" cy="255585"/>
            </a:xfrm>
            <a:prstGeom prst="triangle">
              <a:avLst/>
            </a:prstGeom>
            <a:solidFill>
              <a:srgbClr val="FF0000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28" name="Rettangolo 27"/>
            <p:cNvSpPr/>
            <p:nvPr/>
          </p:nvSpPr>
          <p:spPr>
            <a:xfrm>
              <a:off x="402476" y="3835268"/>
              <a:ext cx="530961" cy="252254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</p:grpSp>
      <p:grpSp>
        <p:nvGrpSpPr>
          <p:cNvPr id="29" name="Gruppo 28"/>
          <p:cNvGrpSpPr/>
          <p:nvPr/>
        </p:nvGrpSpPr>
        <p:grpSpPr>
          <a:xfrm>
            <a:off x="2400905" y="4611480"/>
            <a:ext cx="1926426" cy="1214172"/>
            <a:chOff x="402476" y="5184618"/>
            <a:chExt cx="1926426" cy="1214172"/>
          </a:xfrm>
        </p:grpSpPr>
        <p:sp>
          <p:nvSpPr>
            <p:cNvPr id="30" name="Ovale 29"/>
            <p:cNvSpPr/>
            <p:nvPr/>
          </p:nvSpPr>
          <p:spPr>
            <a:xfrm>
              <a:off x="667957" y="5332857"/>
              <a:ext cx="1660945" cy="1065933"/>
            </a:xfrm>
            <a:prstGeom prst="ellipse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it-IT" sz="1200" dirty="0" smtClean="0">
                  <a:solidFill>
                    <a:schemeClr val="tx1"/>
                  </a:solidFill>
                  <a:latin typeface="Century Schoolbook" panose="02040604050505020304" pitchFamily="18" charset="0"/>
                </a:rPr>
                <a:t>Thermometer</a:t>
              </a:r>
              <a:endParaRPr lang="it-IT" sz="1200" dirty="0">
                <a:solidFill>
                  <a:schemeClr val="tx1"/>
                </a:solidFill>
                <a:latin typeface="Century Schoolbook" panose="02040604050505020304" pitchFamily="18" charset="0"/>
              </a:endParaRPr>
            </a:p>
            <a:p>
              <a:pPr algn="ctr"/>
              <a:r>
                <a:rPr lang="it-IT" sz="1200" dirty="0" smtClean="0">
                  <a:solidFill>
                    <a:schemeClr val="tx1"/>
                  </a:solidFill>
                  <a:latin typeface="Century Schoolbook" panose="02040604050505020304" pitchFamily="18" charset="0"/>
                </a:rPr>
                <a:t>Actor</a:t>
              </a:r>
              <a:endParaRPr lang="it-IT" sz="1200" dirty="0">
                <a:solidFill>
                  <a:schemeClr val="tx1"/>
                </a:solidFill>
                <a:latin typeface="Century Schoolbook" panose="02040604050505020304" pitchFamily="18" charset="0"/>
              </a:endParaRPr>
            </a:p>
          </p:txBody>
        </p:sp>
        <p:sp>
          <p:nvSpPr>
            <p:cNvPr id="31" name="Triangolo isoscele 30"/>
            <p:cNvSpPr/>
            <p:nvPr/>
          </p:nvSpPr>
          <p:spPr>
            <a:xfrm rot="16200000">
              <a:off x="1350190" y="5205064"/>
              <a:ext cx="296478" cy="255585"/>
            </a:xfrm>
            <a:prstGeom prst="triangle">
              <a:avLst/>
            </a:prstGeom>
            <a:solidFill>
              <a:srgbClr val="FF0000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32" name="Rettangolo 31"/>
            <p:cNvSpPr/>
            <p:nvPr/>
          </p:nvSpPr>
          <p:spPr>
            <a:xfrm>
              <a:off x="402476" y="5739696"/>
              <a:ext cx="530961" cy="252254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</p:grpSp>
      <p:sp>
        <p:nvSpPr>
          <p:cNvPr id="33" name="Figura a mano libera 32"/>
          <p:cNvSpPr/>
          <p:nvPr/>
        </p:nvSpPr>
        <p:spPr>
          <a:xfrm>
            <a:off x="4507707" y="3596230"/>
            <a:ext cx="990600" cy="638334"/>
          </a:xfrm>
          <a:custGeom>
            <a:avLst/>
            <a:gdLst>
              <a:gd name="connsiteX0" fmla="*/ 0 w 990600"/>
              <a:gd name="connsiteY0" fmla="*/ 439954 h 638334"/>
              <a:gd name="connsiteX1" fmla="*/ 314325 w 990600"/>
              <a:gd name="connsiteY1" fmla="*/ 439954 h 638334"/>
              <a:gd name="connsiteX2" fmla="*/ 390525 w 990600"/>
              <a:gd name="connsiteY2" fmla="*/ 1804 h 638334"/>
              <a:gd name="connsiteX3" fmla="*/ 571500 w 990600"/>
              <a:gd name="connsiteY3" fmla="*/ 630454 h 638334"/>
              <a:gd name="connsiteX4" fmla="*/ 685800 w 990600"/>
              <a:gd name="connsiteY4" fmla="*/ 354229 h 638334"/>
              <a:gd name="connsiteX5" fmla="*/ 990600 w 990600"/>
              <a:gd name="connsiteY5" fmla="*/ 344704 h 6383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990600" h="638334">
                <a:moveTo>
                  <a:pt x="0" y="439954"/>
                </a:moveTo>
                <a:cubicBezTo>
                  <a:pt x="124619" y="476466"/>
                  <a:pt x="249238" y="512979"/>
                  <a:pt x="314325" y="439954"/>
                </a:cubicBezTo>
                <a:cubicBezTo>
                  <a:pt x="379412" y="366929"/>
                  <a:pt x="347663" y="-29946"/>
                  <a:pt x="390525" y="1804"/>
                </a:cubicBezTo>
                <a:cubicBezTo>
                  <a:pt x="433387" y="33554"/>
                  <a:pt x="522288" y="571717"/>
                  <a:pt x="571500" y="630454"/>
                </a:cubicBezTo>
                <a:cubicBezTo>
                  <a:pt x="620713" y="689192"/>
                  <a:pt x="615950" y="401854"/>
                  <a:pt x="685800" y="354229"/>
                </a:cubicBezTo>
                <a:cubicBezTo>
                  <a:pt x="755650" y="306604"/>
                  <a:pt x="873125" y="325654"/>
                  <a:pt x="990600" y="344704"/>
                </a:cubicBezTo>
              </a:path>
            </a:pathLst>
          </a:custGeom>
          <a:noFill/>
          <a:ln w="15875">
            <a:solidFill>
              <a:schemeClr val="tx1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34" name="CasellaDiTesto 33"/>
          <p:cNvSpPr txBox="1"/>
          <p:nvPr/>
        </p:nvSpPr>
        <p:spPr>
          <a:xfrm>
            <a:off x="4167662" y="3173601"/>
            <a:ext cx="193674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200" dirty="0" smtClean="0">
                <a:solidFill>
                  <a:schemeClr val="accent1">
                    <a:lumMod val="75000"/>
                  </a:schemeClr>
                </a:solidFill>
                <a:latin typeface="Bookman Old Style" panose="02050604050505020204" pitchFamily="18" charset="0"/>
              </a:rPr>
              <a:t>OUTDOOR-area free</a:t>
            </a:r>
          </a:p>
          <a:p>
            <a:r>
              <a:rPr lang="it-IT" sz="1200" dirty="0" smtClean="0">
                <a:solidFill>
                  <a:schemeClr val="accent1">
                    <a:lumMod val="75000"/>
                  </a:schemeClr>
                </a:solidFill>
                <a:latin typeface="Bookman Old Style" panose="02050604050505020204" pitchFamily="18" charset="0"/>
              </a:rPr>
              <a:t>OUTDOOR-area occup.</a:t>
            </a:r>
            <a:endParaRPr lang="it-IT" sz="1200" dirty="0">
              <a:solidFill>
                <a:schemeClr val="accent1">
                  <a:lumMod val="75000"/>
                </a:schemeClr>
              </a:solidFill>
              <a:latin typeface="Bookman Old Style" panose="02050604050505020204" pitchFamily="18" charset="0"/>
            </a:endParaRPr>
          </a:p>
        </p:txBody>
      </p:sp>
      <p:sp>
        <p:nvSpPr>
          <p:cNvPr id="35" name="Figura a mano libera 34"/>
          <p:cNvSpPr/>
          <p:nvPr/>
        </p:nvSpPr>
        <p:spPr>
          <a:xfrm>
            <a:off x="4445516" y="4942279"/>
            <a:ext cx="990600" cy="638334"/>
          </a:xfrm>
          <a:custGeom>
            <a:avLst/>
            <a:gdLst>
              <a:gd name="connsiteX0" fmla="*/ 0 w 990600"/>
              <a:gd name="connsiteY0" fmla="*/ 439954 h 638334"/>
              <a:gd name="connsiteX1" fmla="*/ 314325 w 990600"/>
              <a:gd name="connsiteY1" fmla="*/ 439954 h 638334"/>
              <a:gd name="connsiteX2" fmla="*/ 390525 w 990600"/>
              <a:gd name="connsiteY2" fmla="*/ 1804 h 638334"/>
              <a:gd name="connsiteX3" fmla="*/ 571500 w 990600"/>
              <a:gd name="connsiteY3" fmla="*/ 630454 h 638334"/>
              <a:gd name="connsiteX4" fmla="*/ 685800 w 990600"/>
              <a:gd name="connsiteY4" fmla="*/ 354229 h 638334"/>
              <a:gd name="connsiteX5" fmla="*/ 990600 w 990600"/>
              <a:gd name="connsiteY5" fmla="*/ 344704 h 6383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990600" h="638334">
                <a:moveTo>
                  <a:pt x="0" y="439954"/>
                </a:moveTo>
                <a:cubicBezTo>
                  <a:pt x="124619" y="476466"/>
                  <a:pt x="249238" y="512979"/>
                  <a:pt x="314325" y="439954"/>
                </a:cubicBezTo>
                <a:cubicBezTo>
                  <a:pt x="379412" y="366929"/>
                  <a:pt x="347663" y="-29946"/>
                  <a:pt x="390525" y="1804"/>
                </a:cubicBezTo>
                <a:cubicBezTo>
                  <a:pt x="433387" y="33554"/>
                  <a:pt x="522288" y="571717"/>
                  <a:pt x="571500" y="630454"/>
                </a:cubicBezTo>
                <a:cubicBezTo>
                  <a:pt x="620713" y="689192"/>
                  <a:pt x="615950" y="401854"/>
                  <a:pt x="685800" y="354229"/>
                </a:cubicBezTo>
                <a:cubicBezTo>
                  <a:pt x="755650" y="306604"/>
                  <a:pt x="873125" y="325654"/>
                  <a:pt x="990600" y="344704"/>
                </a:cubicBezTo>
              </a:path>
            </a:pathLst>
          </a:custGeom>
          <a:noFill/>
          <a:ln w="15875">
            <a:solidFill>
              <a:schemeClr val="tx1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36" name="CasellaDiTesto 35"/>
          <p:cNvSpPr txBox="1"/>
          <p:nvPr/>
        </p:nvSpPr>
        <p:spPr>
          <a:xfrm>
            <a:off x="4269018" y="5563680"/>
            <a:ext cx="179568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200" dirty="0" smtClean="0">
                <a:solidFill>
                  <a:schemeClr val="accent1">
                    <a:lumMod val="75000"/>
                  </a:schemeClr>
                </a:solidFill>
                <a:latin typeface="Bookman Old Style" panose="02050604050505020204" pitchFamily="18" charset="0"/>
              </a:rPr>
              <a:t>temperature: &lt;value&gt;</a:t>
            </a:r>
            <a:endParaRPr lang="it-IT" sz="1200" dirty="0">
              <a:solidFill>
                <a:schemeClr val="accent1">
                  <a:lumMod val="75000"/>
                </a:schemeClr>
              </a:solidFill>
              <a:latin typeface="Bookman Old Style" panose="02050604050505020204" pitchFamily="18" charset="0"/>
            </a:endParaRPr>
          </a:p>
        </p:txBody>
      </p:sp>
      <p:grpSp>
        <p:nvGrpSpPr>
          <p:cNvPr id="37" name="Gruppo 36"/>
          <p:cNvGrpSpPr/>
          <p:nvPr/>
        </p:nvGrpSpPr>
        <p:grpSpPr>
          <a:xfrm>
            <a:off x="8556786" y="3852655"/>
            <a:ext cx="1926426" cy="1214172"/>
            <a:chOff x="402476" y="5184618"/>
            <a:chExt cx="1926426" cy="1214172"/>
          </a:xfrm>
        </p:grpSpPr>
        <p:sp>
          <p:nvSpPr>
            <p:cNvPr id="38" name="Ovale 37"/>
            <p:cNvSpPr/>
            <p:nvPr/>
          </p:nvSpPr>
          <p:spPr>
            <a:xfrm>
              <a:off x="667957" y="5332857"/>
              <a:ext cx="1660945" cy="1065933"/>
            </a:xfrm>
            <a:prstGeom prst="ellipse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it-IT" sz="1200" dirty="0">
                  <a:solidFill>
                    <a:schemeClr val="tx1"/>
                  </a:solidFill>
                  <a:latin typeface="Century Schoolbook" panose="02040604050505020304" pitchFamily="18" charset="0"/>
                </a:rPr>
                <a:t>Park Service Status GUI Actor</a:t>
              </a:r>
            </a:p>
            <a:p>
              <a:pPr lvl="0" algn="ctr"/>
              <a:r>
                <a:rPr lang="it-IT" sz="1100" i="1" dirty="0">
                  <a:solidFill>
                    <a:prstClr val="black"/>
                  </a:solidFill>
                  <a:latin typeface="Century Schoolbook" panose="02040604050505020304" pitchFamily="18" charset="0"/>
                </a:rPr>
                <a:t>(manager’s)</a:t>
              </a:r>
              <a:endParaRPr lang="it-IT" sz="1400" i="1" dirty="0">
                <a:solidFill>
                  <a:prstClr val="black"/>
                </a:solidFill>
                <a:latin typeface="Century Schoolbook" panose="02040604050505020304" pitchFamily="18" charset="0"/>
              </a:endParaRPr>
            </a:p>
          </p:txBody>
        </p:sp>
        <p:sp>
          <p:nvSpPr>
            <p:cNvPr id="39" name="Triangolo isoscele 38"/>
            <p:cNvSpPr/>
            <p:nvPr/>
          </p:nvSpPr>
          <p:spPr>
            <a:xfrm rot="16200000">
              <a:off x="1350190" y="5205064"/>
              <a:ext cx="296478" cy="255585"/>
            </a:xfrm>
            <a:prstGeom prst="triangle">
              <a:avLst/>
            </a:prstGeom>
            <a:solidFill>
              <a:srgbClr val="FF0000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40" name="Rettangolo 39"/>
            <p:cNvSpPr/>
            <p:nvPr/>
          </p:nvSpPr>
          <p:spPr>
            <a:xfrm>
              <a:off x="402476" y="5739696"/>
              <a:ext cx="530961" cy="252254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</p:grpSp>
      <p:sp>
        <p:nvSpPr>
          <p:cNvPr id="41" name="Figura a mano libera 40"/>
          <p:cNvSpPr/>
          <p:nvPr/>
        </p:nvSpPr>
        <p:spPr>
          <a:xfrm>
            <a:off x="7628377" y="3718740"/>
            <a:ext cx="990600" cy="638334"/>
          </a:xfrm>
          <a:custGeom>
            <a:avLst/>
            <a:gdLst>
              <a:gd name="connsiteX0" fmla="*/ 0 w 990600"/>
              <a:gd name="connsiteY0" fmla="*/ 439954 h 638334"/>
              <a:gd name="connsiteX1" fmla="*/ 314325 w 990600"/>
              <a:gd name="connsiteY1" fmla="*/ 439954 h 638334"/>
              <a:gd name="connsiteX2" fmla="*/ 390525 w 990600"/>
              <a:gd name="connsiteY2" fmla="*/ 1804 h 638334"/>
              <a:gd name="connsiteX3" fmla="*/ 571500 w 990600"/>
              <a:gd name="connsiteY3" fmla="*/ 630454 h 638334"/>
              <a:gd name="connsiteX4" fmla="*/ 685800 w 990600"/>
              <a:gd name="connsiteY4" fmla="*/ 354229 h 638334"/>
              <a:gd name="connsiteX5" fmla="*/ 990600 w 990600"/>
              <a:gd name="connsiteY5" fmla="*/ 344704 h 6383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990600" h="638334">
                <a:moveTo>
                  <a:pt x="0" y="439954"/>
                </a:moveTo>
                <a:cubicBezTo>
                  <a:pt x="124619" y="476466"/>
                  <a:pt x="249238" y="512979"/>
                  <a:pt x="314325" y="439954"/>
                </a:cubicBezTo>
                <a:cubicBezTo>
                  <a:pt x="379412" y="366929"/>
                  <a:pt x="347663" y="-29946"/>
                  <a:pt x="390525" y="1804"/>
                </a:cubicBezTo>
                <a:cubicBezTo>
                  <a:pt x="433387" y="33554"/>
                  <a:pt x="522288" y="571717"/>
                  <a:pt x="571500" y="630454"/>
                </a:cubicBezTo>
                <a:cubicBezTo>
                  <a:pt x="620713" y="689192"/>
                  <a:pt x="615950" y="401854"/>
                  <a:pt x="685800" y="354229"/>
                </a:cubicBezTo>
                <a:cubicBezTo>
                  <a:pt x="755650" y="306604"/>
                  <a:pt x="873125" y="325654"/>
                  <a:pt x="990600" y="344704"/>
                </a:cubicBezTo>
              </a:path>
            </a:pathLst>
          </a:custGeom>
          <a:noFill/>
          <a:ln w="15875">
            <a:solidFill>
              <a:schemeClr val="tx1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42" name="Figura a mano libera 41"/>
          <p:cNvSpPr/>
          <p:nvPr/>
        </p:nvSpPr>
        <p:spPr>
          <a:xfrm>
            <a:off x="7557560" y="4607594"/>
            <a:ext cx="990600" cy="638334"/>
          </a:xfrm>
          <a:custGeom>
            <a:avLst/>
            <a:gdLst>
              <a:gd name="connsiteX0" fmla="*/ 0 w 990600"/>
              <a:gd name="connsiteY0" fmla="*/ 439954 h 638334"/>
              <a:gd name="connsiteX1" fmla="*/ 314325 w 990600"/>
              <a:gd name="connsiteY1" fmla="*/ 439954 h 638334"/>
              <a:gd name="connsiteX2" fmla="*/ 390525 w 990600"/>
              <a:gd name="connsiteY2" fmla="*/ 1804 h 638334"/>
              <a:gd name="connsiteX3" fmla="*/ 571500 w 990600"/>
              <a:gd name="connsiteY3" fmla="*/ 630454 h 638334"/>
              <a:gd name="connsiteX4" fmla="*/ 685800 w 990600"/>
              <a:gd name="connsiteY4" fmla="*/ 354229 h 638334"/>
              <a:gd name="connsiteX5" fmla="*/ 990600 w 990600"/>
              <a:gd name="connsiteY5" fmla="*/ 344704 h 6383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990600" h="638334">
                <a:moveTo>
                  <a:pt x="0" y="439954"/>
                </a:moveTo>
                <a:cubicBezTo>
                  <a:pt x="124619" y="476466"/>
                  <a:pt x="249238" y="512979"/>
                  <a:pt x="314325" y="439954"/>
                </a:cubicBezTo>
                <a:cubicBezTo>
                  <a:pt x="379412" y="366929"/>
                  <a:pt x="347663" y="-29946"/>
                  <a:pt x="390525" y="1804"/>
                </a:cubicBezTo>
                <a:cubicBezTo>
                  <a:pt x="433387" y="33554"/>
                  <a:pt x="522288" y="571717"/>
                  <a:pt x="571500" y="630454"/>
                </a:cubicBezTo>
                <a:cubicBezTo>
                  <a:pt x="620713" y="689192"/>
                  <a:pt x="615950" y="401854"/>
                  <a:pt x="685800" y="354229"/>
                </a:cubicBezTo>
                <a:cubicBezTo>
                  <a:pt x="755650" y="306604"/>
                  <a:pt x="873125" y="325654"/>
                  <a:pt x="990600" y="344704"/>
                </a:cubicBezTo>
              </a:path>
            </a:pathLst>
          </a:custGeom>
          <a:noFill/>
          <a:ln w="15875">
            <a:solidFill>
              <a:schemeClr val="tx1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43" name="CasellaDiTesto 42"/>
          <p:cNvSpPr txBox="1"/>
          <p:nvPr/>
        </p:nvSpPr>
        <p:spPr>
          <a:xfrm>
            <a:off x="7480003" y="3283067"/>
            <a:ext cx="189346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200" dirty="0" smtClean="0">
                <a:solidFill>
                  <a:schemeClr val="accent1">
                    <a:lumMod val="75000"/>
                  </a:schemeClr>
                </a:solidFill>
                <a:latin typeface="Bookman Old Style" panose="02050604050505020204" pitchFamily="18" charset="0"/>
              </a:rPr>
              <a:t>outdoor alarm</a:t>
            </a:r>
          </a:p>
          <a:p>
            <a:r>
              <a:rPr lang="it-IT" sz="1200" dirty="0" smtClean="0">
                <a:solidFill>
                  <a:schemeClr val="accent1">
                    <a:lumMod val="75000"/>
                  </a:schemeClr>
                </a:solidFill>
                <a:latin typeface="Bookman Old Style" panose="02050604050505020204" pitchFamily="18" charset="0"/>
              </a:rPr>
              <a:t>outdoor alarm revoked</a:t>
            </a:r>
            <a:endParaRPr lang="it-IT" sz="1200" dirty="0">
              <a:solidFill>
                <a:schemeClr val="accent1">
                  <a:lumMod val="75000"/>
                </a:schemeClr>
              </a:solidFill>
              <a:latin typeface="Bookman Old Style" panose="02050604050505020204" pitchFamily="18" charset="0"/>
            </a:endParaRPr>
          </a:p>
        </p:txBody>
      </p:sp>
      <p:sp>
        <p:nvSpPr>
          <p:cNvPr id="44" name="CasellaDiTesto 43"/>
          <p:cNvSpPr txBox="1"/>
          <p:nvPr/>
        </p:nvSpPr>
        <p:spPr>
          <a:xfrm>
            <a:off x="7557560" y="5313993"/>
            <a:ext cx="223330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200" dirty="0" smtClean="0">
                <a:solidFill>
                  <a:schemeClr val="accent1">
                    <a:lumMod val="75000"/>
                  </a:schemeClr>
                </a:solidFill>
                <a:latin typeface="Bookman Old Style" panose="02050604050505020204" pitchFamily="18" charset="0"/>
              </a:rPr>
              <a:t>temperature alarm</a:t>
            </a:r>
          </a:p>
          <a:p>
            <a:r>
              <a:rPr lang="it-IT" sz="1200" dirty="0" smtClean="0">
                <a:solidFill>
                  <a:schemeClr val="accent1">
                    <a:lumMod val="75000"/>
                  </a:schemeClr>
                </a:solidFill>
                <a:latin typeface="Bookman Old Style" panose="02050604050505020204" pitchFamily="18" charset="0"/>
              </a:rPr>
              <a:t>temperature alarm revoked</a:t>
            </a:r>
            <a:endParaRPr lang="it-IT" sz="1200" dirty="0">
              <a:solidFill>
                <a:schemeClr val="accent1">
                  <a:lumMod val="75000"/>
                </a:schemeClr>
              </a:solidFill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81595603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1345</TotalTime>
  <Words>255</Words>
  <Application>Microsoft Office PowerPoint</Application>
  <PresentationFormat>Widescreen</PresentationFormat>
  <Paragraphs>130</Paragraphs>
  <Slides>7</Slides>
  <Notes>0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5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7</vt:i4>
      </vt:variant>
    </vt:vector>
  </HeadingPairs>
  <TitlesOfParts>
    <vt:vector size="13" baseType="lpstr">
      <vt:lpstr>Arial</vt:lpstr>
      <vt:lpstr>Bookman Old Style</vt:lpstr>
      <vt:lpstr>Calibri</vt:lpstr>
      <vt:lpstr>Calibri Light</vt:lpstr>
      <vt:lpstr>Century Schoolbook</vt:lpstr>
      <vt:lpstr>Tema di Office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Presentazione standard di PowerPoint</dc:title>
  <dc:creator>Giacomo</dc:creator>
  <cp:lastModifiedBy>Giacomo</cp:lastModifiedBy>
  <cp:revision>98</cp:revision>
  <dcterms:created xsi:type="dcterms:W3CDTF">2021-03-22T10:16:42Z</dcterms:created>
  <dcterms:modified xsi:type="dcterms:W3CDTF">2021-06-24T11:35:07Z</dcterms:modified>
</cp:coreProperties>
</file>