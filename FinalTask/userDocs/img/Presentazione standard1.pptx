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9DBF3"/>
    <a:srgbClr val="F4B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6" autoAdjust="0"/>
    <p:restoredTop sz="94660"/>
  </p:normalViewPr>
  <p:slideViewPr>
    <p:cSldViewPr snapToGrid="0">
      <p:cViewPr>
        <p:scale>
          <a:sx n="75" d="100"/>
          <a:sy n="75" d="100"/>
        </p:scale>
        <p:origin x="79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5352F5-95C9-4F48-B46E-CDE88BF90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0898ED1-3163-4F89-9ECA-B1AA81282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498266-FE8D-482E-8F82-E68FB1F9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C4A5AB-5DD7-445E-98C1-06A5CF36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E9C53D-B83C-4DBB-9D92-04D45AA3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174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5E7877-FFFB-419B-A940-E4F55773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8685E3-5E10-4EB5-BC6C-9DAFD94AE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4FC60D-27D4-48C9-A2DE-DDBF39EB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89403F-614F-4C97-9AF5-2278D86A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4F5CDE-8056-41E2-9CD3-2A7692F0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744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2B9C0-83D7-4268-B75B-3B6714A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E7184E-CF72-45CD-9E7C-3E14B1BF1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065E34-AA19-40D8-924D-B1A75569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6763F1-AC1A-4318-966D-31384DDAF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788DE2-5148-467E-B4B7-A0610742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27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F7815F-E690-4D25-91CC-5BE4015C5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27D864-291F-4F03-82DE-90C543E69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491B2C8-2CFD-4837-8C7D-EDC95B8AB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9D85BF-D29C-4888-AB69-79C97589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908CEFF-8434-4DCF-9EB2-AAE9900A5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02C2C0-89AE-4C74-AD43-8077FF70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44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AB16BF-1828-476C-AFBC-70A3F2FF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F331E3-581C-4A7E-85F5-1DB5B0F8C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A61280A-DA09-48E3-9CCD-5B54D9E0D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B4E2E4B-0C05-4068-9C86-0A2760A22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B3D5D95-856E-48CE-97C4-A828AE52C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9B5B35A-742A-41C6-AC6A-1CDFDD2C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D6AF197-4FEB-415D-AE50-228DF754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BE9239-0528-4D1B-8C1C-58EA1E67F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55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EB6D31-1089-4C63-B50A-DD26243D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F5D28EE-59CE-4584-BA30-6B817099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A13BCE6-350D-46B0-BBAD-24AA42AB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5382100-2A57-48E4-9338-D18BCA7D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952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56EDA26-FE2B-4E97-A70D-DC8D70C0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0A71480-AE93-404A-9F64-6B7D4E49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DBA4A8-B86C-4581-9348-865A6AAF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479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8C69B1-C584-4E70-9A26-38072798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F59F3B-2D4D-4D23-8423-DA8C9229D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3BB7A5A-8524-40AE-B195-21AD73A9A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EBDD094-0285-4DC9-AC68-31BC7A11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613BBA-4DA9-4165-968E-A0EECF98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1F9B3A2-C24C-4658-B91A-8393DBD4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845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37291C-1B45-4199-8B48-AC85FF19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E55B41E-61BB-4EBD-A939-22A9A23C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97192F-6569-4997-833D-03A9F9BA3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699238E-1F19-4DE2-B4AE-6B9DDBBD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D6FC4A-6929-46AF-A29F-45BB3209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F1D4C17-CA87-4DD8-ACDF-F5064D1C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963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5CB67-5D18-4451-B768-A4347B42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E7BA8DD-FADB-4FBF-A8BC-4F33154A1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16B8D4-2F93-4B3C-BB8B-C48A6AE5F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28D4F7-6715-4B30-B64D-A65A82E62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9EEF74-ED24-4209-AD6B-F7FAEE88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009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CA0FCCF-551A-4159-9E90-5B52440A9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C840ABF-60AF-4001-9496-B11A8ED6F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E65712-B17F-4506-A35A-D94A1214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431015-554C-4458-983E-763EAA3C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1E85EF-8085-4BA8-9CEA-115EECDB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6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7C986F4-5D5F-453F-A8AA-78B9D0BF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B8816E2-2CCB-4A41-B63F-E97EDDF56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2E722C-4FBF-48CC-A865-683E83F40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D95F0-B459-402C-B37B-3F9206DF6621}" type="datetimeFigureOut">
              <a:rPr lang="it-IT" smtClean="0"/>
              <a:t>22/06/2021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534727-916C-4936-8953-935F48E5D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C92367-989A-4388-8AE6-52AE169BB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6CD62-B569-4F77-8EAA-9B1743A8D4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44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AE0F0235-F687-401F-BE26-684920C4ECB4}"/>
              </a:ext>
            </a:extLst>
          </p:cNvPr>
          <p:cNvSpPr/>
          <p:nvPr/>
        </p:nvSpPr>
        <p:spPr>
          <a:xfrm>
            <a:off x="899184" y="2791877"/>
            <a:ext cx="1857403" cy="163676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Thermometer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914288DA-991F-4C19-A5CE-E5CB0C0731F1}"/>
              </a:ext>
            </a:extLst>
          </p:cNvPr>
          <p:cNvSpPr/>
          <p:nvPr/>
        </p:nvSpPr>
        <p:spPr>
          <a:xfrm rot="16200000">
            <a:off x="1723857" y="2700627"/>
            <a:ext cx="334578" cy="182500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D616CC5-B9E6-4B1F-9EDD-246A03CA3139}"/>
              </a:ext>
            </a:extLst>
          </p:cNvPr>
          <p:cNvSpPr/>
          <p:nvPr/>
        </p:nvSpPr>
        <p:spPr>
          <a:xfrm>
            <a:off x="617362" y="3457119"/>
            <a:ext cx="563643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89FC37F9-070A-4437-BCA4-685B862773B8}"/>
              </a:ext>
            </a:extLst>
          </p:cNvPr>
          <p:cNvSpPr/>
          <p:nvPr/>
        </p:nvSpPr>
        <p:spPr>
          <a:xfrm>
            <a:off x="9293085" y="4567434"/>
            <a:ext cx="1857403" cy="163677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Transport Trolley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403BA6C-73CA-4AD0-89FD-B22075ACF8A6}"/>
              </a:ext>
            </a:extLst>
          </p:cNvPr>
          <p:cNvSpPr/>
          <p:nvPr/>
        </p:nvSpPr>
        <p:spPr>
          <a:xfrm>
            <a:off x="8774404" y="5218529"/>
            <a:ext cx="774552" cy="3345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D730308E-50C2-4F0A-9A73-ABE09ACFC7BE}"/>
              </a:ext>
            </a:extLst>
          </p:cNvPr>
          <p:cNvSpPr/>
          <p:nvPr/>
        </p:nvSpPr>
        <p:spPr>
          <a:xfrm>
            <a:off x="806000" y="759713"/>
            <a:ext cx="1857403" cy="163676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Weight Sensor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15" name="Triangolo isoscele 14">
            <a:extLst>
              <a:ext uri="{FF2B5EF4-FFF2-40B4-BE49-F238E27FC236}">
                <a16:creationId xmlns:a16="http://schemas.microsoft.com/office/drawing/2014/main" id="{92CE9E93-4516-46FF-BDA3-7E103FC05806}"/>
              </a:ext>
            </a:extLst>
          </p:cNvPr>
          <p:cNvSpPr/>
          <p:nvPr/>
        </p:nvSpPr>
        <p:spPr>
          <a:xfrm rot="16200000">
            <a:off x="1529450" y="668463"/>
            <a:ext cx="334579" cy="182501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A90512A-9E37-483C-B175-4E3EADE12D1A}"/>
              </a:ext>
            </a:extLst>
          </p:cNvPr>
          <p:cNvSpPr/>
          <p:nvPr/>
        </p:nvSpPr>
        <p:spPr>
          <a:xfrm>
            <a:off x="426473" y="1422486"/>
            <a:ext cx="714644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61477D68-C5DB-4C9A-A5CE-C789181B086D}"/>
              </a:ext>
            </a:extLst>
          </p:cNvPr>
          <p:cNvSpPr/>
          <p:nvPr/>
        </p:nvSpPr>
        <p:spPr>
          <a:xfrm>
            <a:off x="9528597" y="611693"/>
            <a:ext cx="1857403" cy="16367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Fan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D0D196ED-8B3E-49CA-8474-7BC6D32F1734}"/>
              </a:ext>
            </a:extLst>
          </p:cNvPr>
          <p:cNvSpPr/>
          <p:nvPr/>
        </p:nvSpPr>
        <p:spPr>
          <a:xfrm>
            <a:off x="9092963" y="1192944"/>
            <a:ext cx="714644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BCA4ED2-540F-47F3-A6A9-2638DE17168D}"/>
              </a:ext>
            </a:extLst>
          </p:cNvPr>
          <p:cNvSpPr/>
          <p:nvPr/>
        </p:nvSpPr>
        <p:spPr>
          <a:xfrm>
            <a:off x="939594" y="4970206"/>
            <a:ext cx="1905929" cy="163677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Century Schoolbook" panose="02040604050505020304" pitchFamily="18" charset="0"/>
              </a:rPr>
              <a:t>Outsonar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F21F5878-EC00-4196-A658-CC0F42AA5337}"/>
              </a:ext>
            </a:extLst>
          </p:cNvPr>
          <p:cNvSpPr/>
          <p:nvPr/>
        </p:nvSpPr>
        <p:spPr>
          <a:xfrm>
            <a:off x="503960" y="5551458"/>
            <a:ext cx="714644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Triangolo isoscele 25">
            <a:extLst>
              <a:ext uri="{FF2B5EF4-FFF2-40B4-BE49-F238E27FC236}">
                <a16:creationId xmlns:a16="http://schemas.microsoft.com/office/drawing/2014/main" id="{9CAE1808-6BAC-4DE6-B88B-C7DF4498F972}"/>
              </a:ext>
            </a:extLst>
          </p:cNvPr>
          <p:cNvSpPr/>
          <p:nvPr/>
        </p:nvSpPr>
        <p:spPr>
          <a:xfrm rot="16200000">
            <a:off x="10302948" y="514679"/>
            <a:ext cx="334579" cy="182501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Triangolo isoscele 26">
            <a:extLst>
              <a:ext uri="{FF2B5EF4-FFF2-40B4-BE49-F238E27FC236}">
                <a16:creationId xmlns:a16="http://schemas.microsoft.com/office/drawing/2014/main" id="{CC46F1F8-3ACE-4BB2-9921-DB49F6873A20}"/>
              </a:ext>
            </a:extLst>
          </p:cNvPr>
          <p:cNvSpPr/>
          <p:nvPr/>
        </p:nvSpPr>
        <p:spPr>
          <a:xfrm rot="16200000">
            <a:off x="10054498" y="4476184"/>
            <a:ext cx="334579" cy="182501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Triangolo isoscele 27">
            <a:extLst>
              <a:ext uri="{FF2B5EF4-FFF2-40B4-BE49-F238E27FC236}">
                <a16:creationId xmlns:a16="http://schemas.microsoft.com/office/drawing/2014/main" id="{970D0960-8DAD-462C-AEB8-6084C9782178}"/>
              </a:ext>
            </a:extLst>
          </p:cNvPr>
          <p:cNvSpPr/>
          <p:nvPr/>
        </p:nvSpPr>
        <p:spPr>
          <a:xfrm rot="16200000">
            <a:off x="1723530" y="4878956"/>
            <a:ext cx="334579" cy="182501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DF2514AF-7CB4-4E97-88AA-A7322A070659}"/>
              </a:ext>
            </a:extLst>
          </p:cNvPr>
          <p:cNvSpPr/>
          <p:nvPr/>
        </p:nvSpPr>
        <p:spPr>
          <a:xfrm>
            <a:off x="5167298" y="2507918"/>
            <a:ext cx="1857403" cy="163676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Park Manager Service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30" name="Triangolo isoscele 29">
            <a:extLst>
              <a:ext uri="{FF2B5EF4-FFF2-40B4-BE49-F238E27FC236}">
                <a16:creationId xmlns:a16="http://schemas.microsoft.com/office/drawing/2014/main" id="{F00ED55C-50B1-4116-AE35-B24C0346EA9D}"/>
              </a:ext>
            </a:extLst>
          </p:cNvPr>
          <p:cNvSpPr/>
          <p:nvPr/>
        </p:nvSpPr>
        <p:spPr>
          <a:xfrm rot="16200000">
            <a:off x="5890748" y="2416668"/>
            <a:ext cx="334579" cy="182501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531960E-FB0B-47EF-9792-36C0BECA7830}"/>
              </a:ext>
            </a:extLst>
          </p:cNvPr>
          <p:cNvSpPr/>
          <p:nvPr/>
        </p:nvSpPr>
        <p:spPr>
          <a:xfrm>
            <a:off x="4787771" y="3170691"/>
            <a:ext cx="714644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ABD3AF85-AC30-408D-B6E0-94354DFA2E74}"/>
              </a:ext>
            </a:extLst>
          </p:cNvPr>
          <p:cNvCxnSpPr>
            <a:cxnSpLocks/>
          </p:cNvCxnSpPr>
          <p:nvPr/>
        </p:nvCxnSpPr>
        <p:spPr>
          <a:xfrm flipV="1">
            <a:off x="7139812" y="1881291"/>
            <a:ext cx="1634592" cy="1027866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nettore curvo 34">
            <a:extLst>
              <a:ext uri="{FF2B5EF4-FFF2-40B4-BE49-F238E27FC236}">
                <a16:creationId xmlns:a16="http://schemas.microsoft.com/office/drawing/2014/main" id="{21EAF4A3-F2E3-487E-9A41-3DC434EAC6F8}"/>
              </a:ext>
            </a:extLst>
          </p:cNvPr>
          <p:cNvCxnSpPr>
            <a:cxnSpLocks/>
          </p:cNvCxnSpPr>
          <p:nvPr/>
        </p:nvCxnSpPr>
        <p:spPr>
          <a:xfrm>
            <a:off x="2874087" y="1532168"/>
            <a:ext cx="1795304" cy="9593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curvo 45">
            <a:extLst>
              <a:ext uri="{FF2B5EF4-FFF2-40B4-BE49-F238E27FC236}">
                <a16:creationId xmlns:a16="http://schemas.microsoft.com/office/drawing/2014/main" id="{12F5519C-DF22-40CA-9CAF-B9D174D5C6FE}"/>
              </a:ext>
            </a:extLst>
          </p:cNvPr>
          <p:cNvCxnSpPr>
            <a:cxnSpLocks/>
          </p:cNvCxnSpPr>
          <p:nvPr/>
        </p:nvCxnSpPr>
        <p:spPr>
          <a:xfrm flipV="1">
            <a:off x="2954639" y="3326303"/>
            <a:ext cx="1578922" cy="57193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curvo 47">
            <a:extLst>
              <a:ext uri="{FF2B5EF4-FFF2-40B4-BE49-F238E27FC236}">
                <a16:creationId xmlns:a16="http://schemas.microsoft.com/office/drawing/2014/main" id="{2CB742AF-7339-4200-B324-CB07BDC935D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66791" y="4138419"/>
            <a:ext cx="1658771" cy="16415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C15AF3BC-1C0A-43A9-9AD8-2F79B2E21BFE}"/>
              </a:ext>
            </a:extLst>
          </p:cNvPr>
          <p:cNvCxnSpPr>
            <a:cxnSpLocks/>
          </p:cNvCxnSpPr>
          <p:nvPr/>
        </p:nvCxnSpPr>
        <p:spPr>
          <a:xfrm>
            <a:off x="7253973" y="3550707"/>
            <a:ext cx="1950176" cy="877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EED23620-F9A1-4F4D-9E14-506FFE826E62}"/>
              </a:ext>
            </a:extLst>
          </p:cNvPr>
          <p:cNvCxnSpPr>
            <a:cxnSpLocks/>
          </p:cNvCxnSpPr>
          <p:nvPr/>
        </p:nvCxnSpPr>
        <p:spPr>
          <a:xfrm flipH="1" flipV="1">
            <a:off x="7058974" y="3920809"/>
            <a:ext cx="2055618" cy="927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36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1BEB7554-A0A5-4F1F-A789-3C445D500E5A}"/>
              </a:ext>
            </a:extLst>
          </p:cNvPr>
          <p:cNvSpPr/>
          <p:nvPr/>
        </p:nvSpPr>
        <p:spPr>
          <a:xfrm>
            <a:off x="3240625" y="3337813"/>
            <a:ext cx="1759400" cy="16278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ParkServiceGUI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592CD9F8-8068-4428-8533-A8AA806EB0D9}"/>
              </a:ext>
            </a:extLst>
          </p:cNvPr>
          <p:cNvSpPr/>
          <p:nvPr/>
        </p:nvSpPr>
        <p:spPr>
          <a:xfrm rot="16200000">
            <a:off x="3964074" y="3246563"/>
            <a:ext cx="334579" cy="182501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77D41FB-163C-4D71-B25A-E3770FD89030}"/>
              </a:ext>
            </a:extLst>
          </p:cNvPr>
          <p:cNvSpPr/>
          <p:nvPr/>
        </p:nvSpPr>
        <p:spPr>
          <a:xfrm>
            <a:off x="2861097" y="4000586"/>
            <a:ext cx="631403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9DAA0F5C-2C1C-44B7-A24A-6D0D0880BBFE}"/>
              </a:ext>
            </a:extLst>
          </p:cNvPr>
          <p:cNvSpPr/>
          <p:nvPr/>
        </p:nvSpPr>
        <p:spPr>
          <a:xfrm>
            <a:off x="7473500" y="3337813"/>
            <a:ext cx="1759400" cy="16278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ParkServiceStatusGUI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</a:p>
        </p:txBody>
      </p:sp>
      <p:sp>
        <p:nvSpPr>
          <p:cNvPr id="8" name="Triangolo isoscele 7">
            <a:extLst>
              <a:ext uri="{FF2B5EF4-FFF2-40B4-BE49-F238E27FC236}">
                <a16:creationId xmlns:a16="http://schemas.microsoft.com/office/drawing/2014/main" id="{E86E2E90-B3C2-46BB-A608-158A737555D9}"/>
              </a:ext>
            </a:extLst>
          </p:cNvPr>
          <p:cNvSpPr/>
          <p:nvPr/>
        </p:nvSpPr>
        <p:spPr>
          <a:xfrm rot="16200000">
            <a:off x="8196950" y="3246563"/>
            <a:ext cx="334579" cy="182501"/>
          </a:xfrm>
          <a:prstGeom prst="triangl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F62AD04-4612-4A74-B24C-6CA1ADBBDA69}"/>
              </a:ext>
            </a:extLst>
          </p:cNvPr>
          <p:cNvSpPr/>
          <p:nvPr/>
        </p:nvSpPr>
        <p:spPr>
          <a:xfrm>
            <a:off x="7081273" y="4000586"/>
            <a:ext cx="589527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A7B6D783-7850-4870-86BB-A07FC6C207E1}"/>
              </a:ext>
            </a:extLst>
          </p:cNvPr>
          <p:cNvCxnSpPr>
            <a:cxnSpLocks/>
          </p:cNvCxnSpPr>
          <p:nvPr/>
        </p:nvCxnSpPr>
        <p:spPr>
          <a:xfrm flipV="1">
            <a:off x="4106271" y="2372201"/>
            <a:ext cx="0" cy="85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997AA375-0D43-4C63-B12B-B0A738D864CD}"/>
              </a:ext>
            </a:extLst>
          </p:cNvPr>
          <p:cNvCxnSpPr>
            <a:cxnSpLocks/>
          </p:cNvCxnSpPr>
          <p:nvPr/>
        </p:nvCxnSpPr>
        <p:spPr>
          <a:xfrm flipV="1">
            <a:off x="8360710" y="2372201"/>
            <a:ext cx="0" cy="853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ttangolo arrotondato 11">
            <a:extLst>
              <a:ext uri="{FF2B5EF4-FFF2-40B4-BE49-F238E27FC236}">
                <a16:creationId xmlns:a16="http://schemas.microsoft.com/office/drawing/2014/main" id="{97B2162A-1978-4832-9CC5-04AC4925CA23}"/>
              </a:ext>
            </a:extLst>
          </p:cNvPr>
          <p:cNvSpPr/>
          <p:nvPr/>
        </p:nvSpPr>
        <p:spPr>
          <a:xfrm>
            <a:off x="3014406" y="1709926"/>
            <a:ext cx="2233914" cy="6622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ParkServiceGUI</a:t>
            </a:r>
          </a:p>
        </p:txBody>
      </p:sp>
      <p:sp>
        <p:nvSpPr>
          <p:cNvPr id="20" name="Rettangolo arrotondato 11">
            <a:extLst>
              <a:ext uri="{FF2B5EF4-FFF2-40B4-BE49-F238E27FC236}">
                <a16:creationId xmlns:a16="http://schemas.microsoft.com/office/drawing/2014/main" id="{A508E0DF-9C36-42B4-88AB-3E8B953BEE69}"/>
              </a:ext>
            </a:extLst>
          </p:cNvPr>
          <p:cNvSpPr/>
          <p:nvPr/>
        </p:nvSpPr>
        <p:spPr>
          <a:xfrm>
            <a:off x="7257327" y="1709927"/>
            <a:ext cx="2233914" cy="6622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ParkServiceStatusGUI</a:t>
            </a:r>
          </a:p>
        </p:txBody>
      </p:sp>
    </p:spTree>
    <p:extLst>
      <p:ext uri="{BB962C8B-B14F-4D97-AF65-F5344CB8AC3E}">
        <p14:creationId xmlns:p14="http://schemas.microsoft.com/office/powerpoint/2010/main" val="2814015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ella 6">
            <a:extLst>
              <a:ext uri="{FF2B5EF4-FFF2-40B4-BE49-F238E27FC236}">
                <a16:creationId xmlns:a16="http://schemas.microsoft.com/office/drawing/2014/main" id="{301A12F6-26EB-4199-B2CE-9FDD899B0FA9}"/>
              </a:ext>
            </a:extLst>
          </p:cNvPr>
          <p:cNvGraphicFramePr>
            <a:graphicFrameLocks noGrp="1"/>
          </p:cNvGraphicFramePr>
          <p:nvPr/>
        </p:nvGraphicFramePr>
        <p:xfrm>
          <a:off x="308909" y="526526"/>
          <a:ext cx="10835640" cy="7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5640">
                  <a:extLst>
                    <a:ext uri="{9D8B030D-6E8A-4147-A177-3AD203B41FA5}">
                      <a16:colId xmlns:a16="http://schemas.microsoft.com/office/drawing/2014/main" val="3727766858"/>
                    </a:ext>
                  </a:extLst>
                </a:gridCol>
              </a:tblGrid>
              <a:tr h="731945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ParkServiceGUI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D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094122"/>
                  </a:ext>
                </a:extLst>
              </a:tr>
            </a:tbl>
          </a:graphicData>
        </a:graphic>
      </p:graphicFrame>
      <p:graphicFrame>
        <p:nvGraphicFramePr>
          <p:cNvPr id="13" name="Tabella 7">
            <a:extLst>
              <a:ext uri="{FF2B5EF4-FFF2-40B4-BE49-F238E27FC236}">
                <a16:creationId xmlns:a16="http://schemas.microsoft.com/office/drawing/2014/main" id="{F955E3D1-6A2F-40B1-BF7E-9CD498850BE6}"/>
              </a:ext>
            </a:extLst>
          </p:cNvPr>
          <p:cNvGraphicFramePr>
            <a:graphicFrameLocks noGrp="1"/>
          </p:cNvGraphicFramePr>
          <p:nvPr/>
        </p:nvGraphicFramePr>
        <p:xfrm>
          <a:off x="308908" y="1268877"/>
          <a:ext cx="10835640" cy="4498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5640">
                  <a:extLst>
                    <a:ext uri="{9D8B030D-6E8A-4147-A177-3AD203B41FA5}">
                      <a16:colId xmlns:a16="http://schemas.microsoft.com/office/drawing/2014/main" val="3806316732"/>
                    </a:ext>
                  </a:extLst>
                </a:gridCol>
              </a:tblGrid>
              <a:tr h="4498877">
                <a:tc>
                  <a:txBody>
                    <a:bodyPr/>
                    <a:lstStyle/>
                    <a:p>
                      <a:endParaRPr lang="it-IT" dirty="0"/>
                    </a:p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 find out if and which parking slot is free</a:t>
                      </a:r>
                      <a:endParaRPr lang="it-IT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it-IT" dirty="0">
                        <a:solidFill>
                          <a:schemeClr val="tx1"/>
                        </a:solidFill>
                      </a:endParaRPr>
                    </a:p>
                    <a:p>
                      <a:endParaRPr lang="it-IT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it-IT" sz="2000" dirty="0">
                          <a:solidFill>
                            <a:schemeClr val="tx1"/>
                          </a:solidFill>
                        </a:rPr>
                        <a:t>To enter the car and to have the receipt with the TOKENID</a:t>
                      </a:r>
                    </a:p>
                    <a:p>
                      <a:pPr algn="ctr"/>
                      <a:endParaRPr lang="it-IT" sz="20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it-IT" sz="20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it-IT" sz="2000" dirty="0">
                          <a:solidFill>
                            <a:schemeClr val="tx1"/>
                          </a:solidFill>
                        </a:rPr>
                        <a:t>To pick up the car from the parking-area through the TOKENID</a:t>
                      </a:r>
                    </a:p>
                    <a:p>
                      <a:pPr algn="l"/>
                      <a:endParaRPr lang="it-IT" sz="20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it-IT" sz="20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it-IT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54526"/>
                  </a:ext>
                </a:extLst>
              </a:tr>
            </a:tbl>
          </a:graphicData>
        </a:graphic>
      </p:graphicFrame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37E84477-B387-465A-8FF3-FEAF563A2274}"/>
              </a:ext>
            </a:extLst>
          </p:cNvPr>
          <p:cNvGraphicFramePr>
            <a:graphicFrameLocks noGrp="1"/>
          </p:cNvGraphicFramePr>
          <p:nvPr/>
        </p:nvGraphicFramePr>
        <p:xfrm>
          <a:off x="7710862" y="1432672"/>
          <a:ext cx="2690441" cy="530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441">
                  <a:extLst>
                    <a:ext uri="{9D8B030D-6E8A-4147-A177-3AD203B41FA5}">
                      <a16:colId xmlns:a16="http://schemas.microsoft.com/office/drawing/2014/main" val="2889254930"/>
                    </a:ext>
                  </a:extLst>
                </a:gridCol>
              </a:tblGrid>
              <a:tr h="530298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PARKING SLOT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75739"/>
                  </a:ext>
                </a:extLst>
              </a:tr>
            </a:tbl>
          </a:graphicData>
        </a:graphic>
      </p:graphicFrame>
      <p:graphicFrame>
        <p:nvGraphicFramePr>
          <p:cNvPr id="14" name="Tabella 2">
            <a:extLst>
              <a:ext uri="{FF2B5EF4-FFF2-40B4-BE49-F238E27FC236}">
                <a16:creationId xmlns:a16="http://schemas.microsoft.com/office/drawing/2014/main" id="{53641FDF-414B-44A2-A27D-C09290F1BACC}"/>
              </a:ext>
            </a:extLst>
          </p:cNvPr>
          <p:cNvGraphicFramePr>
            <a:graphicFrameLocks noGrp="1"/>
          </p:cNvGraphicFramePr>
          <p:nvPr/>
        </p:nvGraphicFramePr>
        <p:xfrm>
          <a:off x="7710862" y="2296937"/>
          <a:ext cx="2690441" cy="530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441">
                  <a:extLst>
                    <a:ext uri="{9D8B030D-6E8A-4147-A177-3AD203B41FA5}">
                      <a16:colId xmlns:a16="http://schemas.microsoft.com/office/drawing/2014/main" val="2889254930"/>
                    </a:ext>
                  </a:extLst>
                </a:gridCol>
              </a:tblGrid>
              <a:tr h="530298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CARENTER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75739"/>
                  </a:ext>
                </a:extLst>
              </a:tr>
            </a:tbl>
          </a:graphicData>
        </a:graphic>
      </p:graphicFrame>
      <p:graphicFrame>
        <p:nvGraphicFramePr>
          <p:cNvPr id="15" name="Tabella 2">
            <a:extLst>
              <a:ext uri="{FF2B5EF4-FFF2-40B4-BE49-F238E27FC236}">
                <a16:creationId xmlns:a16="http://schemas.microsoft.com/office/drawing/2014/main" id="{1A27E12F-0DFC-4BF4-B496-3E07575F3D69}"/>
              </a:ext>
            </a:extLst>
          </p:cNvPr>
          <p:cNvGraphicFramePr>
            <a:graphicFrameLocks noGrp="1"/>
          </p:cNvGraphicFramePr>
          <p:nvPr/>
        </p:nvGraphicFramePr>
        <p:xfrm>
          <a:off x="7710862" y="3161433"/>
          <a:ext cx="2690441" cy="530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441">
                  <a:extLst>
                    <a:ext uri="{9D8B030D-6E8A-4147-A177-3AD203B41FA5}">
                      <a16:colId xmlns:a16="http://schemas.microsoft.com/office/drawing/2014/main" val="2889254930"/>
                    </a:ext>
                  </a:extLst>
                </a:gridCol>
              </a:tblGrid>
              <a:tr h="530298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PICK UP THE CAR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75739"/>
                  </a:ext>
                </a:extLst>
              </a:tr>
            </a:tbl>
          </a:graphicData>
        </a:graphic>
      </p:graphicFrame>
      <p:graphicFrame>
        <p:nvGraphicFramePr>
          <p:cNvPr id="3" name="Tabella 3">
            <a:extLst>
              <a:ext uri="{FF2B5EF4-FFF2-40B4-BE49-F238E27FC236}">
                <a16:creationId xmlns:a16="http://schemas.microsoft.com/office/drawing/2014/main" id="{4FF590EF-956A-4096-90A8-E3357E153296}"/>
              </a:ext>
            </a:extLst>
          </p:cNvPr>
          <p:cNvGraphicFramePr>
            <a:graphicFrameLocks noGrp="1"/>
          </p:cNvGraphicFramePr>
          <p:nvPr/>
        </p:nvGraphicFramePr>
        <p:xfrm>
          <a:off x="519723" y="4236588"/>
          <a:ext cx="6490677" cy="113969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490677">
                  <a:extLst>
                    <a:ext uri="{9D8B030D-6E8A-4147-A177-3AD203B41FA5}">
                      <a16:colId xmlns:a16="http://schemas.microsoft.com/office/drawing/2014/main" val="3261371967"/>
                    </a:ext>
                  </a:extLst>
                </a:gridCol>
              </a:tblGrid>
              <a:tr h="1139691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:  SLOTNUM = 3 </a:t>
                      </a:r>
                      <a:r>
                        <a:rPr lang="it-IT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(example)</a:t>
                      </a:r>
                      <a:endParaRPr lang="it-IT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770107"/>
                  </a:ext>
                </a:extLst>
              </a:tr>
            </a:tbl>
          </a:graphicData>
        </a:graphic>
      </p:graphicFrame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3982C712-1E7B-4203-A15C-2B8F0483CDDA}"/>
              </a:ext>
            </a:extLst>
          </p:cNvPr>
          <p:cNvGraphicFramePr>
            <a:graphicFrameLocks noGrp="1"/>
          </p:cNvGraphicFramePr>
          <p:nvPr/>
        </p:nvGraphicFramePr>
        <p:xfrm>
          <a:off x="7710862" y="3713664"/>
          <a:ext cx="2690441" cy="82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441">
                  <a:extLst>
                    <a:ext uri="{9D8B030D-6E8A-4147-A177-3AD203B41FA5}">
                      <a16:colId xmlns:a16="http://schemas.microsoft.com/office/drawing/2014/main" val="1590143792"/>
                    </a:ext>
                  </a:extLst>
                </a:gridCol>
              </a:tblGrid>
              <a:tr h="823168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Insert the TOKENID here</a:t>
                      </a:r>
                    </a:p>
                    <a:p>
                      <a:r>
                        <a:rPr lang="it-IT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: 1234 </a:t>
                      </a:r>
                      <a:r>
                        <a:rPr lang="it-IT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(example)</a:t>
                      </a:r>
                      <a:endParaRPr lang="it-IT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367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96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a 6">
            <a:extLst>
              <a:ext uri="{FF2B5EF4-FFF2-40B4-BE49-F238E27FC236}">
                <a16:creationId xmlns:a16="http://schemas.microsoft.com/office/drawing/2014/main" id="{21D5D8AA-F5C2-4332-91DF-1781495B1002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525209"/>
          <a:ext cx="10835640" cy="7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5640">
                  <a:extLst>
                    <a:ext uri="{9D8B030D-6E8A-4147-A177-3AD203B41FA5}">
                      <a16:colId xmlns:a16="http://schemas.microsoft.com/office/drawing/2014/main" val="3727766858"/>
                    </a:ext>
                  </a:extLst>
                </a:gridCol>
              </a:tblGrid>
              <a:tr h="731945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ParkServiceStatusGUI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D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094122"/>
                  </a:ext>
                </a:extLst>
              </a:tr>
            </a:tbl>
          </a:graphicData>
        </a:graphic>
      </p:graphicFrame>
      <p:graphicFrame>
        <p:nvGraphicFramePr>
          <p:cNvPr id="7" name="Tabella 7">
            <a:extLst>
              <a:ext uri="{FF2B5EF4-FFF2-40B4-BE49-F238E27FC236}">
                <a16:creationId xmlns:a16="http://schemas.microsoft.com/office/drawing/2014/main" id="{540319CA-9670-4658-A005-01EF0478F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9762"/>
              </p:ext>
            </p:extLst>
          </p:nvPr>
        </p:nvGraphicFramePr>
        <p:xfrm>
          <a:off x="571500" y="1266543"/>
          <a:ext cx="10835640" cy="5260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5640">
                  <a:extLst>
                    <a:ext uri="{9D8B030D-6E8A-4147-A177-3AD203B41FA5}">
                      <a16:colId xmlns:a16="http://schemas.microsoft.com/office/drawing/2014/main" val="3806316732"/>
                    </a:ext>
                  </a:extLst>
                </a:gridCol>
              </a:tblGrid>
              <a:tr h="5260412">
                <a:tc>
                  <a:txBody>
                    <a:bodyPr/>
                    <a:lstStyle/>
                    <a:p>
                      <a:endParaRPr lang="it-IT" dirty="0"/>
                    </a:p>
                    <a:p>
                      <a:r>
                        <a:rPr lang="it-IT" sz="2000" dirty="0"/>
                        <a:t>              </a:t>
                      </a:r>
                      <a:r>
                        <a:rPr lang="it-IT" sz="2000" dirty="0">
                          <a:solidFill>
                            <a:schemeClr val="tx1"/>
                          </a:solidFill>
                        </a:rPr>
                        <a:t>Parking-area status</a:t>
                      </a:r>
                      <a:endParaRPr lang="it-IT" sz="2000" dirty="0"/>
                    </a:p>
                    <a:p>
                      <a:endParaRPr lang="it-IT" dirty="0"/>
                    </a:p>
                    <a:p>
                      <a:endParaRPr lang="it-IT" dirty="0"/>
                    </a:p>
                    <a:p>
                      <a:endParaRPr lang="it-IT" dirty="0"/>
                    </a:p>
                    <a:p>
                      <a:endParaRPr lang="it-IT" dirty="0"/>
                    </a:p>
                    <a:p>
                      <a:r>
                        <a:rPr lang="it-IT" dirty="0"/>
                        <a:t>      </a:t>
                      </a:r>
                      <a:endParaRPr lang="it-IT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54526"/>
                  </a:ext>
                </a:extLst>
              </a:tr>
            </a:tbl>
          </a:graphicData>
        </a:graphic>
      </p:graphicFrame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17E886DD-4CEC-4B21-BE3F-04CBADCF6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93420"/>
              </p:ext>
            </p:extLst>
          </p:nvPr>
        </p:nvGraphicFramePr>
        <p:xfrm>
          <a:off x="1344234" y="2066712"/>
          <a:ext cx="2288540" cy="2023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270">
                  <a:extLst>
                    <a:ext uri="{9D8B030D-6E8A-4147-A177-3AD203B41FA5}">
                      <a16:colId xmlns:a16="http://schemas.microsoft.com/office/drawing/2014/main" val="2383512549"/>
                    </a:ext>
                  </a:extLst>
                </a:gridCol>
                <a:gridCol w="1144270">
                  <a:extLst>
                    <a:ext uri="{9D8B030D-6E8A-4147-A177-3AD203B41FA5}">
                      <a16:colId xmlns:a16="http://schemas.microsoft.com/office/drawing/2014/main" val="2000349425"/>
                    </a:ext>
                  </a:extLst>
                </a:gridCol>
              </a:tblGrid>
              <a:tr h="67451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836177"/>
                  </a:ext>
                </a:extLst>
              </a:tr>
              <a:tr h="67451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060090"/>
                  </a:ext>
                </a:extLst>
              </a:tr>
              <a:tr h="67451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829827"/>
                  </a:ext>
                </a:extLst>
              </a:tr>
            </a:tbl>
          </a:graphicData>
        </a:graphic>
      </p:graphicFrame>
      <p:graphicFrame>
        <p:nvGraphicFramePr>
          <p:cNvPr id="13" name="Tabella 13">
            <a:extLst>
              <a:ext uri="{FF2B5EF4-FFF2-40B4-BE49-F238E27FC236}">
                <a16:creationId xmlns:a16="http://schemas.microsoft.com/office/drawing/2014/main" id="{B123343F-29F0-4768-B086-31ED2099C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752893"/>
              </p:ext>
            </p:extLst>
          </p:nvPr>
        </p:nvGraphicFramePr>
        <p:xfrm>
          <a:off x="4687282" y="1767377"/>
          <a:ext cx="6190616" cy="4227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0616">
                  <a:extLst>
                    <a:ext uri="{9D8B030D-6E8A-4147-A177-3AD203B41FA5}">
                      <a16:colId xmlns:a16="http://schemas.microsoft.com/office/drawing/2014/main" val="3991991676"/>
                    </a:ext>
                  </a:extLst>
                </a:gridCol>
              </a:tblGrid>
              <a:tr h="4227023">
                <a:tc>
                  <a:txBody>
                    <a:bodyPr/>
                    <a:lstStyle/>
                    <a:p>
                      <a:endParaRPr lang="it-IT" sz="2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it-IT" sz="2000" dirty="0">
                          <a:solidFill>
                            <a:schemeClr val="tx1"/>
                          </a:solidFill>
                        </a:rPr>
                        <a:t>Temperature of parking-area:  </a:t>
                      </a:r>
                      <a:r>
                        <a:rPr lang="it-IT" sz="18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34° </a:t>
                      </a:r>
                      <a:r>
                        <a:rPr lang="it-IT" sz="1800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(example) </a:t>
                      </a:r>
                      <a:r>
                        <a:rPr lang="it-IT" sz="1800" b="1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it-IT" sz="1800" b="1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[TMAX=35°]</a:t>
                      </a:r>
                    </a:p>
                    <a:p>
                      <a:endParaRPr lang="it-IT" sz="1800" b="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r>
                        <a:rPr lang="it-IT" sz="2000" i="0" dirty="0">
                          <a:solidFill>
                            <a:schemeClr val="tx1"/>
                          </a:solidFill>
                        </a:rPr>
                        <a:t>Fan status: </a:t>
                      </a:r>
                      <a:r>
                        <a:rPr lang="it-IT" sz="180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   </a:t>
                      </a:r>
                      <a:r>
                        <a:rPr lang="it-IT" sz="18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STOP   </a:t>
                      </a:r>
                      <a:r>
                        <a:rPr lang="it-IT" sz="1800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(example)</a:t>
                      </a:r>
                    </a:p>
                    <a:p>
                      <a:endParaRPr lang="it-IT" sz="2000" i="0" dirty="0">
                        <a:solidFill>
                          <a:schemeClr val="tx1"/>
                        </a:solidFill>
                      </a:endParaRPr>
                    </a:p>
                    <a:p>
                      <a:endParaRPr lang="it-IT" sz="2000" i="0" dirty="0">
                        <a:solidFill>
                          <a:schemeClr val="tx1"/>
                        </a:solidFill>
                      </a:endParaRPr>
                    </a:p>
                    <a:p>
                      <a:endParaRPr lang="it-IT" sz="200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it-IT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it-IT" sz="2000" dirty="0">
                          <a:solidFill>
                            <a:schemeClr val="tx1"/>
                          </a:solidFill>
                        </a:rPr>
                        <a:t>Transport trolley status:</a:t>
                      </a:r>
                      <a:endParaRPr lang="it-IT" sz="2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34613"/>
                  </a:ext>
                </a:extLst>
              </a:tr>
            </a:tbl>
          </a:graphicData>
        </a:graphic>
      </p:graphicFrame>
      <p:graphicFrame>
        <p:nvGraphicFramePr>
          <p:cNvPr id="14" name="Tabella 14">
            <a:extLst>
              <a:ext uri="{FF2B5EF4-FFF2-40B4-BE49-F238E27FC236}">
                <a16:creationId xmlns:a16="http://schemas.microsoft.com/office/drawing/2014/main" id="{CDC0611D-311F-4DCD-9153-EDD3FDEEA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036492"/>
              </p:ext>
            </p:extLst>
          </p:nvPr>
        </p:nvGraphicFramePr>
        <p:xfrm>
          <a:off x="852049" y="4450080"/>
          <a:ext cx="3272911" cy="171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2911">
                  <a:extLst>
                    <a:ext uri="{9D8B030D-6E8A-4147-A177-3AD203B41FA5}">
                      <a16:colId xmlns:a16="http://schemas.microsoft.com/office/drawing/2014/main" val="2930059785"/>
                    </a:ext>
                  </a:extLst>
                </a:gridCol>
              </a:tblGrid>
              <a:tr h="1717040">
                <a:tc>
                  <a:txBody>
                    <a:bodyPr/>
                    <a:lstStyle/>
                    <a:p>
                      <a:r>
                        <a:rPr lang="it-IT" sz="2000" dirty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</a:rPr>
                        <a:t>ALARMS           </a:t>
                      </a:r>
                      <a:r>
                        <a:rPr lang="it-IT" dirty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</a:rPr>
                        <a:t> </a:t>
                      </a:r>
                    </a:p>
                    <a:p>
                      <a:pPr algn="ctr"/>
                      <a:endParaRPr lang="it-IT" sz="2000" b="1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skerville Old Face" panose="02020602080505020303" pitchFamily="18" charset="0"/>
                      </a:endParaRPr>
                    </a:p>
                    <a:p>
                      <a:pPr algn="ctr"/>
                      <a:r>
                        <a:rPr lang="it-IT" sz="2000" b="1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skerville Old Face" panose="02020602080505020303" pitchFamily="18" charset="0"/>
                        </a:rPr>
                        <a:t>Temperature too hot!  </a:t>
                      </a:r>
                      <a:r>
                        <a:rPr lang="it-IT" sz="2000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skerville Old Face" panose="02020602080505020303" pitchFamily="18" charset="0"/>
                        </a:rPr>
                        <a:t>(example)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56458"/>
                  </a:ext>
                </a:extLst>
              </a:tr>
            </a:tbl>
          </a:graphicData>
        </a:graphic>
      </p:graphicFrame>
      <p:graphicFrame>
        <p:nvGraphicFramePr>
          <p:cNvPr id="16" name="Tabella 7">
            <a:extLst>
              <a:ext uri="{FF2B5EF4-FFF2-40B4-BE49-F238E27FC236}">
                <a16:creationId xmlns:a16="http://schemas.microsoft.com/office/drawing/2014/main" id="{2CAD3980-22F1-4F8D-BE35-A203847F0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906386"/>
              </p:ext>
            </p:extLst>
          </p:nvPr>
        </p:nvGraphicFramePr>
        <p:xfrm>
          <a:off x="8327523" y="5071299"/>
          <a:ext cx="1603093" cy="47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093">
                  <a:extLst>
                    <a:ext uri="{9D8B030D-6E8A-4147-A177-3AD203B41FA5}">
                      <a16:colId xmlns:a16="http://schemas.microsoft.com/office/drawing/2014/main" val="2449920317"/>
                    </a:ext>
                  </a:extLst>
                </a:gridCol>
              </a:tblGrid>
              <a:tr h="474602"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it-IT" b="0" dirty="0"/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20492"/>
                  </a:ext>
                </a:extLst>
              </a:tr>
            </a:tbl>
          </a:graphicData>
        </a:graphic>
      </p:graphicFrame>
      <p:graphicFrame>
        <p:nvGraphicFramePr>
          <p:cNvPr id="17" name="Tabella 7">
            <a:extLst>
              <a:ext uri="{FF2B5EF4-FFF2-40B4-BE49-F238E27FC236}">
                <a16:creationId xmlns:a16="http://schemas.microsoft.com/office/drawing/2014/main" id="{B739EC67-1F19-480E-A54D-94D3C9694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023841"/>
              </p:ext>
            </p:extLst>
          </p:nvPr>
        </p:nvGraphicFramePr>
        <p:xfrm>
          <a:off x="6904534" y="3286295"/>
          <a:ext cx="1346370" cy="416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370">
                  <a:extLst>
                    <a:ext uri="{9D8B030D-6E8A-4147-A177-3AD203B41FA5}">
                      <a16:colId xmlns:a16="http://schemas.microsoft.com/office/drawing/2014/main" val="2449920317"/>
                    </a:ext>
                  </a:extLst>
                </a:gridCol>
              </a:tblGrid>
              <a:tr h="416883"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it-IT" b="0" dirty="0"/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20492"/>
                  </a:ext>
                </a:extLst>
              </a:tr>
            </a:tbl>
          </a:graphicData>
        </a:graphic>
      </p:graphicFrame>
      <p:graphicFrame>
        <p:nvGraphicFramePr>
          <p:cNvPr id="18" name="Tabella 7">
            <a:extLst>
              <a:ext uri="{FF2B5EF4-FFF2-40B4-BE49-F238E27FC236}">
                <a16:creationId xmlns:a16="http://schemas.microsoft.com/office/drawing/2014/main" id="{0BF8F274-8E08-4399-8504-FE8B477CA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378336"/>
              </p:ext>
            </p:extLst>
          </p:nvPr>
        </p:nvGraphicFramePr>
        <p:xfrm>
          <a:off x="5601484" y="5071299"/>
          <a:ext cx="1603093" cy="474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093">
                  <a:extLst>
                    <a:ext uri="{9D8B030D-6E8A-4147-A177-3AD203B41FA5}">
                      <a16:colId xmlns:a16="http://schemas.microsoft.com/office/drawing/2014/main" val="2449920317"/>
                    </a:ext>
                  </a:extLst>
                </a:gridCol>
              </a:tblGrid>
              <a:tr h="474603"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it-IT" b="0" dirty="0"/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20492"/>
                  </a:ext>
                </a:extLst>
              </a:tr>
            </a:tbl>
          </a:graphicData>
        </a:graphic>
      </p:graphicFrame>
      <p:graphicFrame>
        <p:nvGraphicFramePr>
          <p:cNvPr id="19" name="Tabella 7">
            <a:extLst>
              <a:ext uri="{FF2B5EF4-FFF2-40B4-BE49-F238E27FC236}">
                <a16:creationId xmlns:a16="http://schemas.microsoft.com/office/drawing/2014/main" id="{20101B9A-AD07-4FAA-B999-BDB6734C8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225221"/>
              </p:ext>
            </p:extLst>
          </p:nvPr>
        </p:nvGraphicFramePr>
        <p:xfrm>
          <a:off x="4942860" y="3289971"/>
          <a:ext cx="1346370" cy="416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370">
                  <a:extLst>
                    <a:ext uri="{9D8B030D-6E8A-4147-A177-3AD203B41FA5}">
                      <a16:colId xmlns:a16="http://schemas.microsoft.com/office/drawing/2014/main" val="2449920317"/>
                    </a:ext>
                  </a:extLst>
                </a:gridCol>
              </a:tblGrid>
              <a:tr h="416883"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it-IT" b="0" dirty="0"/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rgbClr val="D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20492"/>
                  </a:ext>
                </a:extLst>
              </a:tr>
            </a:tbl>
          </a:graphicData>
        </a:graphic>
      </p:graphicFrame>
      <p:graphicFrame>
        <p:nvGraphicFramePr>
          <p:cNvPr id="20" name="Tabella 7">
            <a:extLst>
              <a:ext uri="{FF2B5EF4-FFF2-40B4-BE49-F238E27FC236}">
                <a16:creationId xmlns:a16="http://schemas.microsoft.com/office/drawing/2014/main" id="{B8A95E24-B68F-4D5F-BE37-E12C44EB4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549712"/>
              </p:ext>
            </p:extLst>
          </p:nvPr>
        </p:nvGraphicFramePr>
        <p:xfrm>
          <a:off x="8866208" y="3286295"/>
          <a:ext cx="1346370" cy="416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370">
                  <a:extLst>
                    <a:ext uri="{9D8B030D-6E8A-4147-A177-3AD203B41FA5}">
                      <a16:colId xmlns:a16="http://schemas.microsoft.com/office/drawing/2014/main" val="2449920317"/>
                    </a:ext>
                  </a:extLst>
                </a:gridCol>
              </a:tblGrid>
              <a:tr h="416883"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it-IT" b="0" dirty="0"/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20492"/>
                  </a:ext>
                </a:extLst>
              </a:tr>
            </a:tbl>
          </a:graphicData>
        </a:graphic>
      </p:graphicFrame>
      <p:pic>
        <p:nvPicPr>
          <p:cNvPr id="22" name="Elemento grafico 21" descr="Avvertenza">
            <a:extLst>
              <a:ext uri="{FF2B5EF4-FFF2-40B4-BE49-F238E27FC236}">
                <a16:creationId xmlns:a16="http://schemas.microsoft.com/office/drawing/2014/main" id="{BA5FDADC-03CC-4A71-BFEE-E25C9C6F2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0248" y="4507701"/>
            <a:ext cx="388256" cy="309101"/>
          </a:xfrm>
          <a:prstGeom prst="rect">
            <a:avLst/>
          </a:prstGeom>
        </p:spPr>
      </p:pic>
      <p:graphicFrame>
        <p:nvGraphicFramePr>
          <p:cNvPr id="3" name="Tabella 3">
            <a:extLst>
              <a:ext uri="{FF2B5EF4-FFF2-40B4-BE49-F238E27FC236}">
                <a16:creationId xmlns:a16="http://schemas.microsoft.com/office/drawing/2014/main" id="{25BC9B9C-6F41-486E-AAA0-78593048D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25513"/>
              </p:ext>
            </p:extLst>
          </p:nvPr>
        </p:nvGraphicFramePr>
        <p:xfrm>
          <a:off x="7782590" y="4111528"/>
          <a:ext cx="2282704" cy="62204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282704">
                  <a:extLst>
                    <a:ext uri="{9D8B030D-6E8A-4147-A177-3AD203B41FA5}">
                      <a16:colId xmlns:a16="http://schemas.microsoft.com/office/drawing/2014/main" val="1131292813"/>
                    </a:ext>
                  </a:extLst>
                </a:gridCol>
              </a:tblGrid>
              <a:tr h="622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1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Working </a:t>
                      </a:r>
                      <a:r>
                        <a:rPr lang="it-IT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(example)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0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7308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127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0" baseType="lpstr">
      <vt:lpstr>Arial</vt:lpstr>
      <vt:lpstr>Baskerville Old Face</vt:lpstr>
      <vt:lpstr>Calibri</vt:lpstr>
      <vt:lpstr>Calibri Light</vt:lpstr>
      <vt:lpstr>Century Schoolbook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Claudia Badalamenti</dc:creator>
  <cp:lastModifiedBy>Claudia Badalamenti</cp:lastModifiedBy>
  <cp:revision>15</cp:revision>
  <dcterms:created xsi:type="dcterms:W3CDTF">2021-06-14T15:37:26Z</dcterms:created>
  <dcterms:modified xsi:type="dcterms:W3CDTF">2021-06-22T20:36:30Z</dcterms:modified>
</cp:coreProperties>
</file>